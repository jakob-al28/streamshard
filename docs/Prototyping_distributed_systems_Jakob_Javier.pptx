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64" r:id="rId5"/>
    <p:sldId id="385" r:id="rId6"/>
    <p:sldId id="387" r:id="rId7"/>
    <p:sldId id="405" r:id="rId8"/>
    <p:sldId id="410" r:id="rId9"/>
    <p:sldId id="390" r:id="rId10"/>
    <p:sldId id="401" r:id="rId11"/>
    <p:sldId id="408" r:id="rId12"/>
    <p:sldId id="406" r:id="rId13"/>
    <p:sldId id="407" r:id="rId14"/>
    <p:sldId id="40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866"/>
    <a:srgbClr val="C40D1E"/>
    <a:srgbClr val="EEF6FC"/>
    <a:srgbClr val="666666"/>
    <a:srgbClr val="1F90CC"/>
    <a:srgbClr val="EAF4FB"/>
    <a:srgbClr val="FEF1F1"/>
    <a:srgbClr val="FBF1F1"/>
    <a:srgbClr val="FEF0F1"/>
    <a:srgbClr val="FCD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553DE-BE4B-6B0A-A482-556EBCA4F90C}" v="26" dt="2026-07-12T20:40:11.098"/>
    <p1510:client id="{6E684448-2780-61A9-CE05-75E7A2E794BA}" v="54" dt="2026-07-11T13:03:38.278"/>
    <p1510:client id="{7C0FED3D-17C0-4225-6FE1-47E10CAA2F58}" v="177" dt="2026-07-11T18:31:24.876"/>
    <p1510:client id="{BE5C18FB-B9F7-A4C9-3130-1BD07D4C3DC4}" v="41" dt="2026-07-11T11:54:53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1A115E4-E372-0C58-63AE-E3CC6B121A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530FA3-3632-4B05-8AF0-F8DDE77C57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C23A-D718-410A-84DD-5075E0811695}" type="datetimeFigureOut">
              <a:rPr lang="de-DE" smtClean="0"/>
              <a:t>12.07.2026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DE65D4-A275-5E63-D030-09F43B72A5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C5490C-5A8E-75B0-593F-0E6ACB9493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99768-2EA1-4DEB-B567-89587D6987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383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CB9C-D0AD-899F-903A-362FEB4F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E4D21-07B3-550C-8D2A-86DC03758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E0B31-766A-5673-023B-6DE8DE820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RF1 CPU Max Values: GW: 193% Node: 114%</a:t>
            </a:r>
          </a:p>
          <a:p>
            <a:r>
              <a:rPr lang="en-US"/>
              <a:t>RF3 (gateway fan-out) CPU Max Values: GW: 143% Node: 56%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Bottleneck: See last slide</a:t>
            </a:r>
          </a:p>
          <a:p>
            <a:r>
              <a:rPr lang="en-US">
                <a:ea typeface="Calibri"/>
                <a:cs typeface="Calibri"/>
              </a:rPr>
              <a:t>Special behavior: RF 3 is actually linearly scalable because each committed write are 3 requests so 30k / 3  = 10k expected in RF 3</a:t>
            </a:r>
          </a:p>
          <a:p>
            <a:r>
              <a:rPr lang="en-US">
                <a:ea typeface="Calibri"/>
                <a:cs typeface="Calibri"/>
              </a:rPr>
              <a:t>RF 3 5 node shows W 2 speeds things up because 3 is written only 2 is needed (45k expected 15k result 19k)</a:t>
            </a:r>
          </a:p>
          <a:p>
            <a:endParaRPr lang="en-US"/>
          </a:p>
          <a:p>
            <a:r>
              <a:rPr lang="en-US"/>
              <a:t>Config    Offered @ peak    Committed @ peak    GW at peak    Node at peak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RF1 (3-node, e2std2)    32,000    29,241    189% (94% of 200%)    114% (57% of 200%)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gateway-fanout (3-node, e2std2)    12,000    11,494    70% (35% of 200%)    51% (26% of 200%)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gateway-fanout (5-node, e2std2)    22,000    18,917    181% (90% of 200%)    106% (53% of 200%)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primary-replication (3-node, e2std2)    6,000    5,587    94% (47% of 200%)    91% (46% of 200%)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primary-replication (5-node, e2std2)    12,000    8,571    105% (52% of 200%)    114% (57% of 200%)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primary-replication (3-node, e2big)    12,000    10,230    152% (38% of 400%)    193% (48% of 400%)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RF3 primary-replication (5-node, e2big)    18,000    17,154    210% (52% of 400%)    205% (51% of 400%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C2E06-7601-100D-D8CE-3CAB40122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693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26A2-FB17-4EC1-AD8A-50B5B23C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59139-5F4F-9F05-F68A-6F640DDA7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D3C18-B067-C5DE-BACC-A875F30B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RF3 (gateway fan-out) CPU Max Values: GW: 143% Node: 56%</a:t>
            </a:r>
          </a:p>
          <a:p>
            <a:r>
              <a:rPr lang="en-US"/>
              <a:t>RF3 (primary replication) CPU Max Values: GW: 157% Node: 156%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RF3 Primary Replication CPU Max Values (3-node, e2-standard-2): GW: 157% Node: 156%</a:t>
            </a:r>
          </a:p>
          <a:p>
            <a:r>
              <a:rPr lang="en-US"/>
              <a:t>RF3 Primary Replication CPU Max Values (5-node, e2-standard-2): GW: 122% Node: 145%</a:t>
            </a:r>
          </a:p>
          <a:p>
            <a:r>
              <a:rPr lang="en-US"/>
              <a:t>RF3 Primary Replication CPU Max Values (3-node, e2-standard-4): GW: 312% Node: 347%</a:t>
            </a:r>
          </a:p>
          <a:p>
            <a:r>
              <a:rPr lang="en-US"/>
              <a:t>RF3 Primary Replication CPU Max Values (5-node, e2-standard-4): GW: 322% Node: 327%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28263-7EA3-28C2-1AC1-BDDEC251D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513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vertical scaling benchmarks confirmed that write processing is heavily bottlenecked by single-core speed, which is why our future work focuses on parallel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01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Config    Offered @ peak    Committed @ peak    GW at peak    Node at peak</a:t>
            </a:r>
          </a:p>
          <a:p>
            <a:r>
              <a:rPr lang="en-US"/>
              <a:t>RF1 (3-node, e2std2)    32,000    29,241    189% (94% of 200%)    114% (57% of 200%)</a:t>
            </a:r>
          </a:p>
          <a:p>
            <a:r>
              <a:rPr lang="en-US"/>
              <a:t>RF3 gateway-fanout (3-node, e2std2)    12,000    11,494    70% (35% of 200%)    51% (26% of 200%)</a:t>
            </a:r>
          </a:p>
          <a:p>
            <a:r>
              <a:rPr lang="en-US"/>
              <a:t>RF3 gateway-fanout (5-node, e2std2)    22,000    18,917    181% (90% of 200%)    106% (53% of 200%)</a:t>
            </a:r>
          </a:p>
          <a:p>
            <a:r>
              <a:rPr lang="en-US"/>
              <a:t>RF3 primary-replication (3-node, e2std2)    6,000    5,587    94% (47% of 200%)    91% (46% of 200%)</a:t>
            </a:r>
          </a:p>
          <a:p>
            <a:r>
              <a:rPr lang="en-US"/>
              <a:t>RF3 primary-replication (5-node, e2std2)    12,000    8,571    105% (52% of 200%)    114% (57% of 200%)</a:t>
            </a:r>
          </a:p>
          <a:p>
            <a:r>
              <a:rPr lang="en-US"/>
              <a:t>RF3 primary-replication (3-node, e2big)    12,000    10,230    152% (38% of 400%)    193% (48% of 400%)</a:t>
            </a:r>
          </a:p>
          <a:p>
            <a:r>
              <a:rPr lang="en-US"/>
              <a:t>RF3 primary-replication (5-node, e2big)    18,000    17,154    210% (52% of 400%)    205% (51% of 400%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538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EC57-725B-3579-237C-664E1F09A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E8BBA-6CEF-3018-A15C-6E33CBFF8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CC560-986F-BE2B-57CD-A664E527C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Config    Offered @ peak    Committed @ peak    GW at peak    Node at peak</a:t>
            </a:r>
          </a:p>
          <a:p>
            <a:r>
              <a:rPr lang="en-US"/>
              <a:t>RF1 (3-node, e2std2)    32,000    29,241    189% (94% of 200%)    114% (57% of 200%)</a:t>
            </a:r>
          </a:p>
          <a:p>
            <a:r>
              <a:rPr lang="en-US"/>
              <a:t>RF3 gateway-fanout (3-node, e2std2)    12,000    11,494    70% (35% of 200%)    51% (26% of 200%)</a:t>
            </a:r>
          </a:p>
          <a:p>
            <a:r>
              <a:rPr lang="en-US"/>
              <a:t>RF3 gateway-fanout (5-node, e2std2)    22,000    18,917    181% (90% of 200%)    106% (53% of 200%)</a:t>
            </a:r>
          </a:p>
          <a:p>
            <a:r>
              <a:rPr lang="en-US"/>
              <a:t>RF3 primary-replication (3-node, e2std2)    6,000    5,587    94% (47% of 200%)    91% (46% of 200%)</a:t>
            </a:r>
          </a:p>
          <a:p>
            <a:r>
              <a:rPr lang="en-US"/>
              <a:t>RF3 primary-replication (5-node, e2std2)    12,000    8,571    105% (52% of 200%)    114% (57% of 200%)</a:t>
            </a:r>
          </a:p>
          <a:p>
            <a:r>
              <a:rPr lang="en-US"/>
              <a:t>RF3 primary-replication (3-node, e2big)    12,000    10,230    152% (38% of 400%)    193% (48% of 400%)</a:t>
            </a:r>
          </a:p>
          <a:p>
            <a:r>
              <a:rPr lang="en-US"/>
              <a:t>RF3 primary-replication (5-node, e2big)    18,000    17,154    210% (52% of 400%)    205% (51% of 400%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F411C-F06C-F02A-E169-CDACFFA6C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1592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FA110-1227-0CA2-6BB2-5856392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86551-F72F-CFA2-C546-8DCDA546C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F53F8-6E9A-5662-246E-2049742B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RF3 (gateway fan-out) CPU Max Values: GW: 143% Node: 56%</a:t>
            </a:r>
          </a:p>
          <a:p>
            <a:r>
              <a:rPr lang="en-US"/>
              <a:t>RF3 (primary replication) CPU Max Values: GW: 157% Node: 156%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RF3 Primary Replication CPU Max Values (3-node, e2-standard-2): GW: 157% Node: 156%</a:t>
            </a:r>
          </a:p>
          <a:p>
            <a:r>
              <a:rPr lang="en-US"/>
              <a:t>RF3 Primary Replication CPU Max Values (5-node, e2-standard-2): GW: 122% Node: 145%</a:t>
            </a:r>
          </a:p>
          <a:p>
            <a:r>
              <a:rPr lang="en-US"/>
              <a:t>RF3 Primary Replication CPU Max Values (3-node, e2-standard-4): GW: 312% Node: 347%</a:t>
            </a:r>
          </a:p>
          <a:p>
            <a:r>
              <a:rPr lang="en-US"/>
              <a:t>RF3 Primary Replication CPU Max Values (5-node, e2-standard-4): GW: 322% Node: 327%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01DD-4D4F-E8DB-9584-DCCEB4CFE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373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3778-C157-3101-4261-D6BE6598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CA1D4-8795-81B9-04A4-2490CE4A6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53CE6-4E4F-1B7C-8B12-DA9BD5E7D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C37F0-F678-1216-9A3E-6C7A8630E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358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2303-689D-559E-B6AA-57D3B69E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5FC5CE-2285-B1E7-64D4-73D06DF8B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BE9F0E-26D4-0E9B-E451-ACBCAB33B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517FB5-3D9A-49F7-CFF9-508250A6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22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B386A387-DA57-91BD-D891-022DD8FDBC54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Textfeld 6">
            <a:extLst>
              <a:ext uri="{FF2B5EF4-FFF2-40B4-BE49-F238E27FC236}">
                <a16:creationId xmlns:a16="http://schemas.microsoft.com/office/drawing/2014/main" id="{C21B6A3F-7F6D-4458-584F-DD28D68C618F}"/>
              </a:ext>
            </a:extLst>
          </p:cNvPr>
          <p:cNvSpPr txBox="1"/>
          <p:nvPr userDrawn="1"/>
        </p:nvSpPr>
        <p:spPr>
          <a:xfrm>
            <a:off x="550801" y="4973943"/>
            <a:ext cx="832807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noProof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Titel</a:t>
            </a:r>
            <a:r>
              <a:rPr lang="en-US" sz="30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der </a:t>
            </a:r>
            <a:r>
              <a:rPr lang="en-US" sz="3000" noProof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Präsentation</a:t>
            </a:r>
            <a:r>
              <a:rPr lang="en-US" sz="30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Thema </a:t>
            </a:r>
            <a:br>
              <a:rPr lang="en-US" sz="30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2-zeilig </a:t>
            </a:r>
            <a:r>
              <a:rPr lang="en-US" sz="3000" noProof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möglich</a:t>
            </a:r>
            <a:r>
              <a:rPr lang="en-US" sz="30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Arial Regular 30pt, ZA: 36 </a:t>
            </a:r>
            <a:r>
              <a:rPr lang="en-US" sz="3000" noProof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endParaRPr lang="en-US" sz="30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8">
            <a:extLst>
              <a:ext uri="{FF2B5EF4-FFF2-40B4-BE49-F238E27FC236}">
                <a16:creationId xmlns:a16="http://schemas.microsoft.com/office/drawing/2014/main" id="{3F0B09AF-B4BF-2945-A114-1798541C5D4E}"/>
              </a:ext>
            </a:extLst>
          </p:cNvPr>
          <p:cNvSpPr txBox="1"/>
          <p:nvPr userDrawn="1"/>
        </p:nvSpPr>
        <p:spPr>
          <a:xfrm>
            <a:off x="550801" y="6085778"/>
            <a:ext cx="8328079" cy="283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Maxine </a:t>
            </a:r>
            <a:r>
              <a:rPr lang="en-US" sz="1800" noProof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Musterman</a:t>
            </a:r>
            <a:r>
              <a:rPr lang="en-US" sz="18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 Scalable Software Systems | </a:t>
            </a:r>
            <a:fld id="{0F6880AF-F197-8546-A084-1C3550DC2BAA}" type="datetime4">
              <a:rPr lang="en-US" sz="18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July 12, 2026</a:t>
            </a:fld>
            <a:endParaRPr lang="en-US" sz="18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829F71-DE3A-95F2-4D8B-BD8981C5C2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5908" y="5909573"/>
            <a:ext cx="808572" cy="758484"/>
          </a:xfrm>
          <a:prstGeom prst="rect">
            <a:avLst/>
          </a:prstGeom>
        </p:spPr>
      </p:pic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prstGeom prst="rect">
            <a:avLst/>
          </a:pr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err="1"/>
              <a:t>Platzhalter</a:t>
            </a:r>
            <a:r>
              <a:rPr lang="en-US" noProof="0"/>
              <a:t>: Bild </a:t>
            </a:r>
            <a:r>
              <a:rPr lang="en-US" noProof="0" err="1"/>
              <a:t>Titelfolie</a:t>
            </a:r>
            <a:endParaRPr lang="en-US" noProof="0"/>
          </a:p>
        </p:txBody>
      </p:sp>
      <p:pic>
        <p:nvPicPr>
          <p:cNvPr id="5" name="Grafik 6">
            <a:extLst>
              <a:ext uri="{FF2B5EF4-FFF2-40B4-BE49-F238E27FC236}">
                <a16:creationId xmlns:a16="http://schemas.microsoft.com/office/drawing/2014/main" id="{6A2AF881-3A1A-FEC6-D7E0-45FC618D07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1371600"/>
            <a:ext cx="9721850" cy="39276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err="1"/>
              <a:t>Aufzählung</a:t>
            </a:r>
            <a:r>
              <a:rPr lang="en-US" noProof="0"/>
              <a:t> 1. Ebene Arial Regular 18 </a:t>
            </a:r>
            <a:r>
              <a:rPr lang="en-US" noProof="0" err="1"/>
              <a:t>pt</a:t>
            </a:r>
            <a:r>
              <a:rPr lang="en-US" noProof="0"/>
              <a:t>, ZA: 24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2. Ebene</a:t>
            </a:r>
          </a:p>
          <a:p>
            <a:pPr lvl="2"/>
            <a:r>
              <a:rPr lang="en-US" noProof="0"/>
              <a:t>3. Ebene</a:t>
            </a:r>
          </a:p>
          <a:p>
            <a:pPr lvl="3"/>
            <a:r>
              <a:rPr lang="en-US" noProof="0"/>
              <a:t>4. Ebene</a:t>
            </a:r>
          </a:p>
          <a:p>
            <a:pPr lvl="4"/>
            <a:r>
              <a:rPr lang="en-US" noProof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Headline Arial Regular 24pt, ZA: 28pt</a:t>
            </a:r>
            <a:br>
              <a:rPr lang="en-US" noProof="0"/>
            </a:br>
            <a:r>
              <a:rPr lang="en-US" noProof="0"/>
              <a:t>optional 2-zeilig</a:t>
            </a:r>
          </a:p>
        </p:txBody>
      </p:sp>
      <p:sp>
        <p:nvSpPr>
          <p:cNvPr id="2" name="Textfeld 18">
            <a:extLst>
              <a:ext uri="{FF2B5EF4-FFF2-40B4-BE49-F238E27FC236}">
                <a16:creationId xmlns:a16="http://schemas.microsoft.com/office/drawing/2014/main" id="{660B5B3C-50CB-6461-08B4-01280E6C2786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en-US" sz="12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19">
            <a:extLst>
              <a:ext uri="{FF2B5EF4-FFF2-40B4-BE49-F238E27FC236}">
                <a16:creationId xmlns:a16="http://schemas.microsoft.com/office/drawing/2014/main" id="{20DCE9A1-2B6C-61F0-5CD7-A5EFA88FF1A3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8AB8AE3C-4F02-BE49-87A2-4A6516160ED6}" type="datetime4">
              <a:rPr lang="en-US" sz="12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July 12, 2026</a:t>
            </a:fld>
            <a:endParaRPr lang="en-US" sz="12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18">
            <a:extLst>
              <a:ext uri="{FF2B5EF4-FFF2-40B4-BE49-F238E27FC236}">
                <a16:creationId xmlns:a16="http://schemas.microsoft.com/office/drawing/2014/main" id="{47C46F95-C5D0-5B8E-88CD-F9E050CF03F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675EF3AE-78B3-9641-A88A-C3B5FFA9245E}" type="slidenum">
              <a:rPr lang="en-US" sz="1200" noProof="0" smtClean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noProof="0">
              <a:solidFill>
                <a:srgbClr val="5754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19">
            <a:extLst>
              <a:ext uri="{FF2B5EF4-FFF2-40B4-BE49-F238E27FC236}">
                <a16:creationId xmlns:a16="http://schemas.microsoft.com/office/drawing/2014/main" id="{28EC7CD3-2AF9-9E3A-7A6F-9FFD261C5576}"/>
              </a:ext>
            </a:extLst>
          </p:cNvPr>
          <p:cNvSpPr txBox="1"/>
          <p:nvPr userDrawn="1"/>
        </p:nvSpPr>
        <p:spPr>
          <a:xfrm>
            <a:off x="1625539" y="6399922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Jakob AI </a:t>
            </a:r>
            <a:r>
              <a:rPr lang="en-US" sz="1200" noProof="0" err="1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Khuzayi</a:t>
            </a:r>
            <a:r>
              <a:rPr lang="en-US" sz="1200" noProof="0">
                <a:solidFill>
                  <a:srgbClr val="5754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Javier Herrero Delgado  |  Scalability Engineering</a:t>
            </a:r>
          </a:p>
        </p:txBody>
      </p:sp>
      <p:pic>
        <p:nvPicPr>
          <p:cNvPr id="6" name="Grafik 7">
            <a:extLst>
              <a:ext uri="{FF2B5EF4-FFF2-40B4-BE49-F238E27FC236}">
                <a16:creationId xmlns:a16="http://schemas.microsoft.com/office/drawing/2014/main" id="{A2A62279-7B89-CFFB-4446-857162631A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B0C8F2C-8B0C-DF19-2FE8-8FE797030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5908" y="5905718"/>
            <a:ext cx="808572" cy="7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7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75D76D7E-F2EC-DE63-6897-B7547ADBB8D0}"/>
              </a:ext>
            </a:extLst>
          </p:cNvPr>
          <p:cNvSpPr/>
          <p:nvPr/>
        </p:nvSpPr>
        <p:spPr>
          <a:xfrm>
            <a:off x="-56972" y="1711191"/>
            <a:ext cx="12192000" cy="5189537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StreamShard: A Distributed Event Aggregation Engine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9924650" cy="599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Jakob AI </a:t>
            </a:r>
            <a:r>
              <a:rPr lang="en-US" err="1">
                <a:solidFill>
                  <a:schemeClr val="bg1"/>
                </a:solidFill>
                <a:latin typeface="Arial"/>
                <a:cs typeface="Arial"/>
              </a:rPr>
              <a:t>Khuzayi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 &amp; Javier Herrero Delgado  |</a:t>
            </a:r>
            <a:r>
              <a:rPr lang="en-US" sz="1800">
                <a:solidFill>
                  <a:schemeClr val="bg1"/>
                </a:solidFill>
                <a:latin typeface="Arial"/>
                <a:cs typeface="Arial"/>
              </a:rPr>
              <a:t> 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 Scalability Engineering </a:t>
            </a:r>
            <a:r>
              <a:rPr lang="en-US" sz="1800">
                <a:solidFill>
                  <a:schemeClr val="bg1"/>
                </a:solidFill>
                <a:latin typeface="Arial"/>
                <a:cs typeface="Arial"/>
              </a:rPr>
              <a:t> |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  July 13, 2026</a:t>
            </a:r>
          </a:p>
          <a:p>
            <a:pPr>
              <a:lnSpc>
                <a:spcPts val="2400"/>
              </a:lnSpc>
              <a:defRPr/>
            </a:pPr>
            <a:r>
              <a:rPr lang="en-US" sz="1400">
                <a:solidFill>
                  <a:schemeClr val="bg1"/>
                </a:solidFill>
                <a:latin typeface="Arial"/>
                <a:ea typeface="+mn-lt"/>
                <a:cs typeface="Arial"/>
              </a:rPr>
              <a:t>https://github.com/Jakob-al28/StreamShard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10" name="Bildplatzhalter 7">
            <a:extLst>
              <a:ext uri="{FF2B5EF4-FFF2-40B4-BE49-F238E27FC236}">
                <a16:creationId xmlns:a16="http://schemas.microsoft.com/office/drawing/2014/main" id="{7F36890B-42E4-63FC-C976-283AC186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71" b="22371"/>
          <a:stretch/>
        </p:blipFill>
        <p:spPr>
          <a:xfrm>
            <a:off x="-6480" y="1266209"/>
            <a:ext cx="8885359" cy="327360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DF0F648-8DC4-65AF-85D3-522CC9E2A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5908" y="5909573"/>
            <a:ext cx="808572" cy="758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36F4B1-9E2A-641B-93FF-9414DB390144}"/>
              </a:ext>
            </a:extLst>
          </p:cNvPr>
          <p:cNvSpPr txBox="1"/>
          <p:nvPr/>
        </p:nvSpPr>
        <p:spPr>
          <a:xfrm>
            <a:off x="-59073" y="4385041"/>
            <a:ext cx="14654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CHUTTERSNAP on Unsplash</a:t>
            </a:r>
          </a:p>
        </p:txBody>
      </p:sp>
    </p:spTree>
    <p:extLst>
      <p:ext uri="{BB962C8B-B14F-4D97-AF65-F5344CB8AC3E}">
        <p14:creationId xmlns:p14="http://schemas.microsoft.com/office/powerpoint/2010/main" val="86314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367F6-1FD1-2E8B-00D7-45C30F4A1B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Architecture</a:t>
            </a:r>
            <a:endParaRPr lang="en-US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E4527A7-40CC-12D3-F17C-313592E3F5BA}"/>
              </a:ext>
            </a:extLst>
          </p:cNvPr>
          <p:cNvSpPr/>
          <p:nvPr/>
        </p:nvSpPr>
        <p:spPr>
          <a:xfrm>
            <a:off x="5253093" y="1476273"/>
            <a:ext cx="1950398" cy="669984"/>
          </a:xfrm>
          <a:prstGeom prst="roundRect">
            <a:avLst/>
          </a:prstGeom>
          <a:solidFill>
            <a:srgbClr val="F1F1F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Clients / K6 Load Generator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5453441-CD52-0264-59F1-0D136BEB165E}"/>
              </a:ext>
            </a:extLst>
          </p:cNvPr>
          <p:cNvSpPr/>
          <p:nvPr/>
        </p:nvSpPr>
        <p:spPr>
          <a:xfrm>
            <a:off x="4413504" y="2856739"/>
            <a:ext cx="1682496" cy="717437"/>
          </a:xfrm>
          <a:prstGeom prst="roundRect">
            <a:avLst/>
          </a:prstGeom>
          <a:solidFill>
            <a:srgbClr val="EAF4FB"/>
          </a:solid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  <a:p>
            <a:pPr algn="ctr"/>
            <a:r>
              <a:rPr lang="de-DE" sz="1400" b="1" err="1">
                <a:latin typeface="Arial" panose="020B0604020202020204" pitchFamily="34" charset="0"/>
                <a:cs typeface="Arial" panose="020B0604020202020204" pitchFamily="34" charset="0"/>
              </a:rPr>
              <a:t>Stateless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B511AF3-E358-DB10-F698-D66F112D1A19}"/>
              </a:ext>
            </a:extLst>
          </p:cNvPr>
          <p:cNvSpPr/>
          <p:nvPr/>
        </p:nvSpPr>
        <p:spPr>
          <a:xfrm>
            <a:off x="3873271" y="4561419"/>
            <a:ext cx="2106931" cy="970391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Node 0</a:t>
            </a:r>
          </a:p>
          <a:p>
            <a:pPr algn="ctr"/>
            <a:r>
              <a:rPr lang="de-DE" sz="1400" b="1">
                <a:solidFill>
                  <a:srgbClr val="434343"/>
                </a:solidFill>
                <a:latin typeface="Arial"/>
                <a:cs typeface="Arial"/>
              </a:rPr>
              <a:t>Append-Only Log</a:t>
            </a:r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1B7EE23-A18F-14AD-46EB-40FA64905D1D}"/>
              </a:ext>
            </a:extLst>
          </p:cNvPr>
          <p:cNvSpPr/>
          <p:nvPr/>
        </p:nvSpPr>
        <p:spPr>
          <a:xfrm>
            <a:off x="6501310" y="2857202"/>
            <a:ext cx="1685864" cy="717437"/>
          </a:xfrm>
          <a:prstGeom prst="roundRect">
            <a:avLst/>
          </a:prstGeom>
          <a:solidFill>
            <a:srgbClr val="EAF4FB"/>
          </a:solid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  <a:p>
            <a:pPr algn="ctr"/>
            <a:r>
              <a:rPr lang="de-DE" sz="1400" b="1" err="1">
                <a:latin typeface="Arial" panose="020B0604020202020204" pitchFamily="34" charset="0"/>
                <a:cs typeface="Arial" panose="020B0604020202020204" pitchFamily="34" charset="0"/>
              </a:rPr>
              <a:t>Stateless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5979039-1C77-7FF0-4887-D6771F523029}"/>
              </a:ext>
            </a:extLst>
          </p:cNvPr>
          <p:cNvSpPr/>
          <p:nvPr/>
        </p:nvSpPr>
        <p:spPr>
          <a:xfrm>
            <a:off x="9722854" y="4588235"/>
            <a:ext cx="2103120" cy="969264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2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Append-Only Log</a:t>
            </a:r>
            <a:endParaRPr lang="de-DE" sz="1400" b="1">
              <a:latin typeface="Arial"/>
              <a:cs typeface="Arial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27871B0-7B63-55FE-51F7-36FAC22DEB9F}"/>
              </a:ext>
            </a:extLst>
          </p:cNvPr>
          <p:cNvSpPr/>
          <p:nvPr/>
        </p:nvSpPr>
        <p:spPr>
          <a:xfrm>
            <a:off x="6795950" y="4588234"/>
            <a:ext cx="2103120" cy="969264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1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Append-Only Log</a:t>
            </a:r>
            <a:endParaRPr lang="de-DE" sz="1400" b="1">
              <a:latin typeface="Arial"/>
              <a:cs typeface="Arial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C2CE2F79-FA18-27C4-8687-1DF1EED483B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254752" y="2146257"/>
            <a:ext cx="973540" cy="7104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CE54F8D-52F2-25A3-10DF-396E81D606F2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6228292" y="2146257"/>
            <a:ext cx="1115950" cy="7109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1F146154-7228-17C4-3F25-43FC292900FA}"/>
              </a:ext>
            </a:extLst>
          </p:cNvPr>
          <p:cNvSpPr txBox="1"/>
          <p:nvPr/>
        </p:nvSpPr>
        <p:spPr>
          <a:xfrm>
            <a:off x="3845670" y="2272693"/>
            <a:ext cx="2106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 /</a:t>
            </a:r>
            <a:r>
              <a:rPr lang="de-DE" sz="1400" b="1" err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aggregates</a:t>
            </a:r>
            <a:endParaRPr lang="de-DE" sz="1400" b="1">
              <a:solidFill>
                <a:schemeClr val="bg2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7C2A325-A714-3F8C-D473-465C71B041CB}"/>
              </a:ext>
            </a:extLst>
          </p:cNvPr>
          <p:cNvSpPr txBox="1"/>
          <p:nvPr/>
        </p:nvSpPr>
        <p:spPr>
          <a:xfrm>
            <a:off x="6939526" y="2280382"/>
            <a:ext cx="2106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POST /</a:t>
            </a:r>
            <a:r>
              <a:rPr lang="de-DE" sz="1400" b="1" err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events</a:t>
            </a:r>
            <a:endParaRPr lang="de-DE" sz="1400" b="1">
              <a:solidFill>
                <a:schemeClr val="bg2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64796FE-4A79-2398-43A3-614A3F3DD2C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926737" y="3574176"/>
            <a:ext cx="328015" cy="9872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8162576-988F-2DBA-DE52-CA12DD5F7FA3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7344242" y="3574639"/>
            <a:ext cx="503268" cy="10135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C9C44B2-69F1-4B39-F794-5E9C5286C6A1}"/>
              </a:ext>
            </a:extLst>
          </p:cNvPr>
          <p:cNvSpPr/>
          <p:nvPr/>
        </p:nvSpPr>
        <p:spPr>
          <a:xfrm>
            <a:off x="9091172" y="2729939"/>
            <a:ext cx="2377441" cy="969264"/>
          </a:xfrm>
          <a:prstGeom prst="roundRect">
            <a:avLst/>
          </a:prstGeom>
          <a:solidFill>
            <a:srgbClr val="FCEFE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Plane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Reshard Orchestration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Epoch Sequencer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FC81FD8-48F6-181C-5B43-9535C85ED7BF}"/>
              </a:ext>
            </a:extLst>
          </p:cNvPr>
          <p:cNvCxnSpPr>
            <a:cxnSpLocks/>
            <a:stCxn id="31" idx="1"/>
            <a:endCxn id="11" idx="3"/>
          </p:cNvCxnSpPr>
          <p:nvPr/>
        </p:nvCxnSpPr>
        <p:spPr>
          <a:xfrm flipH="1">
            <a:off x="8187174" y="3214571"/>
            <a:ext cx="903998" cy="135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89A2FD3-C576-9049-116E-D417E4C6462A}"/>
              </a:ext>
            </a:extLst>
          </p:cNvPr>
          <p:cNvCxnSpPr>
            <a:cxnSpLocks/>
          </p:cNvCxnSpPr>
          <p:nvPr/>
        </p:nvCxnSpPr>
        <p:spPr>
          <a:xfrm flipH="1">
            <a:off x="8478755" y="3646224"/>
            <a:ext cx="678918" cy="942011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A9CE58C7-FC63-0FD5-FCE1-9E00F8717157}"/>
              </a:ext>
            </a:extLst>
          </p:cNvPr>
          <p:cNvCxnSpPr>
            <a:cxnSpLocks/>
          </p:cNvCxnSpPr>
          <p:nvPr/>
        </p:nvCxnSpPr>
        <p:spPr>
          <a:xfrm>
            <a:off x="10864255" y="3699203"/>
            <a:ext cx="0" cy="89151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AEB0C166-9A2C-D3E1-B165-A273E701B58E}"/>
              </a:ext>
            </a:extLst>
          </p:cNvPr>
          <p:cNvCxnSpPr>
            <a:cxnSpLocks/>
          </p:cNvCxnSpPr>
          <p:nvPr/>
        </p:nvCxnSpPr>
        <p:spPr>
          <a:xfrm flipH="1">
            <a:off x="5977169" y="4827971"/>
            <a:ext cx="818781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743402BF-1297-0FC8-C6A7-0A00538AA679}"/>
              </a:ext>
            </a:extLst>
          </p:cNvPr>
          <p:cNvCxnSpPr>
            <a:cxnSpLocks/>
          </p:cNvCxnSpPr>
          <p:nvPr/>
        </p:nvCxnSpPr>
        <p:spPr>
          <a:xfrm flipH="1">
            <a:off x="8899070" y="4816048"/>
            <a:ext cx="822703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588FB78D-DDD5-DFF9-4B18-DFBE257DAD01}"/>
              </a:ext>
            </a:extLst>
          </p:cNvPr>
          <p:cNvSpPr txBox="1"/>
          <p:nvPr/>
        </p:nvSpPr>
        <p:spPr>
          <a:xfrm>
            <a:off x="5885997" y="4091127"/>
            <a:ext cx="2106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Replication</a:t>
            </a:r>
          </a:p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W=2 </a:t>
            </a:r>
            <a:r>
              <a:rPr lang="de-DE" sz="1400" b="1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acks</a:t>
            </a:r>
            <a:endParaRPr lang="de-DE" sz="1400" b="1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CF6807B8-9ED0-DBEB-ED60-33CB5B87165A}"/>
              </a:ext>
            </a:extLst>
          </p:cNvPr>
          <p:cNvSpPr txBox="1"/>
          <p:nvPr/>
        </p:nvSpPr>
        <p:spPr>
          <a:xfrm>
            <a:off x="9046456" y="3760466"/>
            <a:ext cx="2106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Epoch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sync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C5051AD4-9642-F9CB-0F4E-403AD1F81989}"/>
              </a:ext>
            </a:extLst>
          </p:cNvPr>
          <p:cNvCxnSpPr>
            <a:cxnSpLocks/>
          </p:cNvCxnSpPr>
          <p:nvPr/>
        </p:nvCxnSpPr>
        <p:spPr>
          <a:xfrm flipH="1">
            <a:off x="5987157" y="5263557"/>
            <a:ext cx="808793" cy="3632"/>
          </a:xfrm>
          <a:prstGeom prst="straightConnector1">
            <a:avLst/>
          </a:prstGeom>
          <a:ln w="28575">
            <a:solidFill>
              <a:srgbClr val="C94C4C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F4B2AE4E-6737-261B-B234-1B5A9916D83C}"/>
              </a:ext>
            </a:extLst>
          </p:cNvPr>
          <p:cNvCxnSpPr>
            <a:cxnSpLocks/>
          </p:cNvCxnSpPr>
          <p:nvPr/>
        </p:nvCxnSpPr>
        <p:spPr>
          <a:xfrm flipH="1">
            <a:off x="8899070" y="5263557"/>
            <a:ext cx="822703" cy="0"/>
          </a:xfrm>
          <a:prstGeom prst="straightConnector1">
            <a:avLst/>
          </a:prstGeom>
          <a:ln w="28575">
            <a:solidFill>
              <a:srgbClr val="C94C4C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Verbinder: gekrümmt 69">
            <a:extLst>
              <a:ext uri="{FF2B5EF4-FFF2-40B4-BE49-F238E27FC236}">
                <a16:creationId xmlns:a16="http://schemas.microsoft.com/office/drawing/2014/main" id="{5A61BF74-9289-F652-B2E5-4153E551AD3D}"/>
              </a:ext>
            </a:extLst>
          </p:cNvPr>
          <p:cNvCxnSpPr>
            <a:cxnSpLocks/>
            <a:stCxn id="8" idx="2"/>
            <a:endCxn id="13" idx="2"/>
          </p:cNvCxnSpPr>
          <p:nvPr/>
        </p:nvCxnSpPr>
        <p:spPr>
          <a:xfrm rot="16200000" flipH="1">
            <a:off x="7837731" y="2620815"/>
            <a:ext cx="25689" cy="5847677"/>
          </a:xfrm>
          <a:prstGeom prst="curvedConnector3">
            <a:avLst>
              <a:gd name="adj1" fmla="val 1998400"/>
            </a:avLst>
          </a:prstGeom>
          <a:ln w="28575">
            <a:solidFill>
              <a:srgbClr val="C94C4C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C1CC1831-26B7-C762-363A-FE7F2A3657FD}"/>
              </a:ext>
            </a:extLst>
          </p:cNvPr>
          <p:cNvSpPr txBox="1"/>
          <p:nvPr/>
        </p:nvSpPr>
        <p:spPr>
          <a:xfrm>
            <a:off x="7203491" y="5666452"/>
            <a:ext cx="210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SWIM</a:t>
            </a:r>
            <a:r>
              <a:rPr lang="de-DE" sz="1600" b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 </a:t>
            </a:r>
            <a:r>
              <a:rPr lang="de-DE" sz="1600" b="1" err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gossip</a:t>
            </a:r>
            <a:endParaRPr lang="de-DE" sz="1600" b="1">
              <a:ln w="0"/>
              <a:solidFill>
                <a:srgbClr val="BD3939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68B7D626-57EE-2D2B-5A83-4EE1C542BA17}"/>
              </a:ext>
            </a:extLst>
          </p:cNvPr>
          <p:cNvSpPr/>
          <p:nvPr/>
        </p:nvSpPr>
        <p:spPr>
          <a:xfrm>
            <a:off x="611245" y="2716155"/>
            <a:ext cx="2666086" cy="1317408"/>
          </a:xfrm>
          <a:prstGeom prst="roundRect">
            <a:avLst/>
          </a:prstGeom>
          <a:solidFill>
            <a:srgbClr val="EAF4FB"/>
          </a:solid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  <a:p>
            <a:pPr algn="ctr"/>
            <a:r>
              <a:rPr lang="de-DE" sz="1500" b="1">
                <a:solidFill>
                  <a:srgbClr val="104866"/>
                </a:solidFill>
                <a:latin typeface="Arial"/>
                <a:cs typeface="Arial"/>
              </a:rPr>
              <a:t>Token-</a:t>
            </a:r>
            <a:r>
              <a:rPr lang="de-DE" sz="1500" b="1" err="1">
                <a:solidFill>
                  <a:srgbClr val="104866"/>
                </a:solidFill>
                <a:latin typeface="Arial"/>
                <a:cs typeface="Arial"/>
              </a:rPr>
              <a:t>Buckets</a:t>
            </a:r>
            <a:endParaRPr lang="de-DE" sz="1500" b="1" err="1">
              <a:solidFill>
                <a:srgbClr val="1048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500" b="1">
                <a:solidFill>
                  <a:srgbClr val="104866"/>
                </a:solidFill>
                <a:latin typeface="Arial"/>
                <a:cs typeface="Arial"/>
              </a:rPr>
              <a:t>Circuit Breakers</a:t>
            </a:r>
            <a:endParaRPr lang="de-DE" sz="1500" b="1">
              <a:solidFill>
                <a:srgbClr val="1048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b="1" err="1">
                <a:solidFill>
                  <a:srgbClr val="434343"/>
                </a:solidFill>
                <a:latin typeface="Arial"/>
                <a:cs typeface="Arial"/>
              </a:rPr>
              <a:t>Consistent</a:t>
            </a:r>
            <a:r>
              <a:rPr lang="de-DE" sz="1400" b="1">
                <a:solidFill>
                  <a:srgbClr val="434343"/>
                </a:solidFill>
                <a:latin typeface="Arial"/>
                <a:cs typeface="Arial"/>
              </a:rPr>
              <a:t> Hash Ring</a:t>
            </a:r>
          </a:p>
          <a:p>
            <a:pPr algn="ctr"/>
            <a:r>
              <a:rPr lang="de-DE" sz="1400" b="1">
                <a:solidFill>
                  <a:srgbClr val="434343"/>
                </a:solidFill>
                <a:latin typeface="Arial"/>
                <a:cs typeface="Arial"/>
              </a:rPr>
              <a:t>Write Quorum Replication</a:t>
            </a:r>
            <a:endParaRPr lang="de-DE"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6" name="Rechteck: abgerundete Ecken 75">
            <a:extLst>
              <a:ext uri="{FF2B5EF4-FFF2-40B4-BE49-F238E27FC236}">
                <a16:creationId xmlns:a16="http://schemas.microsoft.com/office/drawing/2014/main" id="{5145D47B-05F6-543B-0295-9FCF9C5B7DD2}"/>
              </a:ext>
            </a:extLst>
          </p:cNvPr>
          <p:cNvSpPr/>
          <p:nvPr/>
        </p:nvSpPr>
        <p:spPr>
          <a:xfrm>
            <a:off x="633017" y="1535596"/>
            <a:ext cx="2644315" cy="669983"/>
          </a:xfrm>
          <a:prstGeom prst="roundRect">
            <a:avLst/>
          </a:prstGeom>
          <a:solidFill>
            <a:srgbClr val="F9EBEB"/>
          </a:solidFill>
          <a:ln>
            <a:solidFill>
              <a:srgbClr val="C94C4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SWIM </a:t>
            </a:r>
            <a:r>
              <a:rPr lang="de-DE" sz="1600" b="1" err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gossip</a:t>
            </a:r>
            <a:r>
              <a:rPr lang="de-DE" sz="1600" b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      </a:t>
            </a:r>
            <a:r>
              <a:rPr lang="de-DE" sz="1400" b="1">
                <a:ln w="0"/>
                <a:solidFill>
                  <a:srgbClr val="43434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Membership Management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AED214EA-742B-69E2-D9D3-5111E257B200}"/>
              </a:ext>
            </a:extLst>
          </p:cNvPr>
          <p:cNvSpPr/>
          <p:nvPr/>
        </p:nvSpPr>
        <p:spPr>
          <a:xfrm>
            <a:off x="618503" y="4549936"/>
            <a:ext cx="2658829" cy="1302972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Nodes</a:t>
            </a:r>
          </a:p>
          <a:p>
            <a:pPr algn="ctr"/>
            <a:r>
              <a:rPr lang="de-DE" sz="15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de-DE" sz="1500" b="1" err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Shedding</a:t>
            </a:r>
            <a:endParaRPr lang="de-DE" sz="1500" b="1">
              <a:solidFill>
                <a:srgbClr val="2269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b="1">
                <a:solidFill>
                  <a:srgbClr val="434343"/>
                </a:solidFill>
                <a:latin typeface="Arial"/>
                <a:cs typeface="Arial"/>
              </a:rPr>
              <a:t>Rolling Aggregates</a:t>
            </a:r>
            <a:r>
              <a:rPr lang="de-DE" sz="1600" b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endParaRPr lang="de-DE" sz="1600" b="1">
              <a:solidFill>
                <a:srgbClr val="2269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b="1" err="1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Compaction</a:t>
            </a:r>
            <a:r>
              <a:rPr lang="de-DE" sz="1400" b="1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Snapshots</a:t>
            </a:r>
          </a:p>
          <a:p>
            <a:pPr algn="ctr"/>
            <a:r>
              <a:rPr lang="de-DE" sz="1400" b="1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 Fencing</a:t>
            </a:r>
          </a:p>
        </p:txBody>
      </p: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5430A409-688B-97BA-C12F-B6AEF1B8ED42}"/>
              </a:ext>
            </a:extLst>
          </p:cNvPr>
          <p:cNvCxnSpPr>
            <a:cxnSpLocks/>
          </p:cNvCxnSpPr>
          <p:nvPr/>
        </p:nvCxnSpPr>
        <p:spPr>
          <a:xfrm flipH="1">
            <a:off x="4494784" y="3574176"/>
            <a:ext cx="376886" cy="970389"/>
          </a:xfrm>
          <a:prstGeom prst="straightConnector1">
            <a:avLst/>
          </a:prstGeom>
          <a:ln w="28575">
            <a:solidFill>
              <a:srgbClr val="C94C4C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B343FAA7-A0B1-EC5C-E600-238900738829}"/>
              </a:ext>
            </a:extLst>
          </p:cNvPr>
          <p:cNvCxnSpPr>
            <a:cxnSpLocks/>
          </p:cNvCxnSpPr>
          <p:nvPr/>
        </p:nvCxnSpPr>
        <p:spPr>
          <a:xfrm>
            <a:off x="7758436" y="3573290"/>
            <a:ext cx="474757" cy="1014150"/>
          </a:xfrm>
          <a:prstGeom prst="straightConnector1">
            <a:avLst/>
          </a:prstGeom>
          <a:ln w="28575">
            <a:solidFill>
              <a:srgbClr val="C94C4C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16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8939-2739-446E-3BB7-C5472007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C38447-6DA4-E4BE-F729-F6633C4923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0" tIns="0" rIns="91440" bIns="45720" anchor="t"/>
          <a:lstStyle/>
          <a:p>
            <a:pPr marL="0" indent="0">
              <a:buNone/>
            </a:pP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69D13-EBB7-D591-D6D4-7B2BE7E8C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Demo: Primary Failover and Live </a:t>
            </a:r>
            <a:r>
              <a:rPr lang="en-US" err="1">
                <a:latin typeface="Arial"/>
                <a:cs typeface="Arial"/>
              </a:rPr>
              <a:t>Resharding</a:t>
            </a:r>
            <a:endParaRPr lang="en-US" err="1"/>
          </a:p>
        </p:txBody>
      </p:sp>
      <p:pic>
        <p:nvPicPr>
          <p:cNvPr id="4" name="demo_small">
            <a:hlinkClick r:id="" action="ppaction://media"/>
            <a:extLst>
              <a:ext uri="{FF2B5EF4-FFF2-40B4-BE49-F238E27FC236}">
                <a16:creationId xmlns:a16="http://schemas.microsoft.com/office/drawing/2014/main" id="{87CEC107-DF47-02DA-882A-B49EAC29C8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56228" y="1288142"/>
            <a:ext cx="8679543" cy="48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0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E0B4-2427-E0A7-DCBA-7DFFBA27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528D17-4A9A-C1CF-FF09-8631E4711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71600"/>
            <a:ext cx="9721850" cy="1133675"/>
          </a:xfrm>
        </p:spPr>
        <p:txBody>
          <a:bodyPr lIns="0" tIns="0" rIns="91440" bIns="45720" anchor="t"/>
          <a:lstStyle/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Write Quorum </a:t>
            </a:r>
            <a:r>
              <a:rPr lang="de-DE" err="1">
                <a:latin typeface="Arial"/>
                <a:cs typeface="Arial"/>
              </a:rPr>
              <a:t>replication</a:t>
            </a:r>
            <a:r>
              <a:rPr lang="de-DE">
                <a:latin typeface="Arial"/>
                <a:cs typeface="Arial"/>
              </a:rPr>
              <a:t> </a:t>
            </a:r>
            <a:r>
              <a:rPr lang="en-US">
                <a:latin typeface="Arial"/>
                <a:cs typeface="Arial"/>
              </a:rPr>
              <a:t>(RF=3, W=2) reduces peak throughput by </a:t>
            </a:r>
            <a:r>
              <a:rPr lang="en-US" b="1">
                <a:solidFill>
                  <a:srgbClr val="C40D1E"/>
                </a:solidFill>
                <a:latin typeface="Arial"/>
                <a:cs typeface="Arial"/>
              </a:rPr>
              <a:t>~60%</a:t>
            </a:r>
            <a:endParaRPr lang="de-DE" b="1">
              <a:solidFill>
                <a:srgbClr val="C40D1E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358B-256A-4A02-7E67-9720A194B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The Cost of Replication</a:t>
            </a:r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446843-E6B4-CBA8-59C8-4C9C98950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51" y="1984248"/>
            <a:ext cx="5749749" cy="359359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7E6EF3-0D7D-4B50-FDEB-7681066E5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4248"/>
            <a:ext cx="5749749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4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B4581-4AED-806D-08D9-A56CF22A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6B9E6-E696-0294-4256-13A9A5A50F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71600"/>
            <a:ext cx="9729107" cy="444247"/>
          </a:xfrm>
        </p:spPr>
        <p:txBody>
          <a:bodyPr lIns="0" tIns="0" rIns="91440" bIns="45720" anchor="t"/>
          <a:lstStyle/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Primary-</a:t>
            </a:r>
            <a:r>
              <a:rPr lang="de-DE" err="1">
                <a:latin typeface="Arial"/>
                <a:cs typeface="Arial"/>
              </a:rPr>
              <a:t>driven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replication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costs</a:t>
            </a:r>
            <a:r>
              <a:rPr lang="de-DE">
                <a:latin typeface="Arial"/>
                <a:cs typeface="Arial"/>
              </a:rPr>
              <a:t> </a:t>
            </a: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~55%</a:t>
            </a:r>
            <a:r>
              <a:rPr lang="de-DE">
                <a:latin typeface="Arial"/>
                <a:cs typeface="Arial"/>
              </a:rPr>
              <a:t> </a:t>
            </a:r>
            <a:r>
              <a:rPr lang="de-DE" err="1">
                <a:latin typeface="Arial"/>
                <a:cs typeface="Arial"/>
              </a:rPr>
              <a:t>throughput</a:t>
            </a:r>
            <a:r>
              <a:rPr lang="de-DE">
                <a:latin typeface="Arial"/>
                <a:cs typeface="Arial"/>
              </a:rPr>
              <a:t> vs. </a:t>
            </a:r>
            <a:r>
              <a:rPr lang="de-DE" err="1">
                <a:latin typeface="Arial"/>
                <a:cs typeface="Arial"/>
              </a:rPr>
              <a:t>gateway</a:t>
            </a:r>
            <a:r>
              <a:rPr lang="de-DE">
                <a:latin typeface="Arial"/>
                <a:cs typeface="Arial"/>
              </a:rPr>
              <a:t> fan-out </a:t>
            </a:r>
          </a:p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Core </a:t>
            </a:r>
            <a:r>
              <a:rPr lang="de-DE" err="1">
                <a:latin typeface="Arial"/>
                <a:cs typeface="Arial"/>
              </a:rPr>
              <a:t>count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helps</a:t>
            </a:r>
            <a:r>
              <a:rPr lang="de-DE">
                <a:latin typeface="Arial"/>
                <a:cs typeface="Arial"/>
              </a:rPr>
              <a:t> parallel </a:t>
            </a:r>
            <a:r>
              <a:rPr lang="de-DE" err="1">
                <a:latin typeface="Arial"/>
                <a:cs typeface="Arial"/>
              </a:rPr>
              <a:t>work</a:t>
            </a:r>
            <a:r>
              <a:rPr lang="de-DE">
                <a:latin typeface="Arial"/>
                <a:cs typeface="Arial"/>
              </a:rPr>
              <a:t>, </a:t>
            </a:r>
            <a:r>
              <a:rPr lang="de-DE" err="1">
                <a:latin typeface="Arial"/>
                <a:cs typeface="Arial"/>
              </a:rPr>
              <a:t>clock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speed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helps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serial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work</a:t>
            </a:r>
            <a:endParaRPr lang="de-DE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059E2-4379-AD7A-E17B-BABD4154BA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10" y="396545"/>
            <a:ext cx="9734307" cy="717437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Leader-Based Replication &amp; Vertical Scaling</a:t>
            </a:r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92D2436-FB2F-B106-9AAE-8BF75A561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99" y="2322220"/>
            <a:ext cx="5749748" cy="359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4166D3-86EE-FDB1-F000-C5958830B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42" y="2322284"/>
            <a:ext cx="5747658" cy="35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9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272A-7EBA-71E3-2311-45702F8C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55F4867F-345E-01F2-D261-D5B178654784}"/>
              </a:ext>
            </a:extLst>
          </p:cNvPr>
          <p:cNvSpPr/>
          <p:nvPr/>
        </p:nvSpPr>
        <p:spPr>
          <a:xfrm>
            <a:off x="6719779" y="1746405"/>
            <a:ext cx="4920352" cy="1695244"/>
          </a:xfrm>
          <a:prstGeom prst="roundRect">
            <a:avLst/>
          </a:prstGeom>
          <a:solidFill>
            <a:srgbClr val="EEF6FC"/>
          </a:solidFill>
          <a:ln>
            <a:solidFill>
              <a:srgbClr val="1F90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n w="0"/>
              <a:solidFill>
                <a:srgbClr val="43434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C94A707-F8CB-2D21-289B-1D31C715B2C8}"/>
              </a:ext>
            </a:extLst>
          </p:cNvPr>
          <p:cNvSpPr/>
          <p:nvPr/>
        </p:nvSpPr>
        <p:spPr>
          <a:xfrm>
            <a:off x="6923814" y="2024843"/>
            <a:ext cx="1097280" cy="1097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17489F1C-3D0A-52DC-A461-9F01CD8A3B33}"/>
              </a:ext>
            </a:extLst>
          </p:cNvPr>
          <p:cNvSpPr/>
          <p:nvPr/>
        </p:nvSpPr>
        <p:spPr>
          <a:xfrm>
            <a:off x="6719779" y="3812069"/>
            <a:ext cx="4920352" cy="1695244"/>
          </a:xfrm>
          <a:prstGeom prst="roundRect">
            <a:avLst/>
          </a:prstGeom>
          <a:solidFill>
            <a:srgbClr val="EEF6FC"/>
          </a:solidFill>
          <a:ln>
            <a:solidFill>
              <a:srgbClr val="1F90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n w="0"/>
              <a:solidFill>
                <a:srgbClr val="43434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F46651D2-7547-275E-CE84-FDA35E3A2208}"/>
              </a:ext>
            </a:extLst>
          </p:cNvPr>
          <p:cNvSpPr/>
          <p:nvPr/>
        </p:nvSpPr>
        <p:spPr>
          <a:xfrm>
            <a:off x="6923814" y="4090507"/>
            <a:ext cx="1097280" cy="1097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7A965E77-FD8C-4708-B40D-3D342FF36BF3}"/>
              </a:ext>
            </a:extLst>
          </p:cNvPr>
          <p:cNvSpPr/>
          <p:nvPr/>
        </p:nvSpPr>
        <p:spPr>
          <a:xfrm>
            <a:off x="551869" y="3812069"/>
            <a:ext cx="5232239" cy="1695244"/>
          </a:xfrm>
          <a:prstGeom prst="roundRect">
            <a:avLst/>
          </a:prstGeom>
          <a:solidFill>
            <a:srgbClr val="FEF1F1"/>
          </a:solidFill>
          <a:ln>
            <a:solidFill>
              <a:srgbClr val="C40D1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n w="0"/>
              <a:solidFill>
                <a:srgbClr val="43434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1D79D08-6977-C9CB-D48F-4EDD2223293E}"/>
              </a:ext>
            </a:extLst>
          </p:cNvPr>
          <p:cNvSpPr/>
          <p:nvPr/>
        </p:nvSpPr>
        <p:spPr>
          <a:xfrm>
            <a:off x="729442" y="4111772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C1835C47-50EA-8060-0A46-00CF939F280C}"/>
              </a:ext>
            </a:extLst>
          </p:cNvPr>
          <p:cNvSpPr/>
          <p:nvPr/>
        </p:nvSpPr>
        <p:spPr>
          <a:xfrm>
            <a:off x="551869" y="1746405"/>
            <a:ext cx="5232239" cy="1695244"/>
          </a:xfrm>
          <a:prstGeom prst="roundRect">
            <a:avLst/>
          </a:prstGeom>
          <a:solidFill>
            <a:srgbClr val="FEF1F1"/>
          </a:solidFill>
          <a:ln>
            <a:solidFill>
              <a:srgbClr val="C40D1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n w="0"/>
              <a:solidFill>
                <a:srgbClr val="43434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2BA272-06A8-A387-421D-F0A844BEA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29061" y="2046108"/>
            <a:ext cx="3740219" cy="1229360"/>
          </a:xfrm>
        </p:spPr>
        <p:txBody>
          <a:bodyPr lIns="0" tIns="0" rIns="91440" bIns="45720" anchor="t"/>
          <a:lstStyle/>
          <a:p>
            <a:pPr marL="0" indent="0">
              <a:buNone/>
            </a:pP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Per-</a:t>
            </a:r>
            <a:r>
              <a:rPr lang="de-DE" b="1" err="1">
                <a:solidFill>
                  <a:srgbClr val="C40D1E"/>
                </a:solidFill>
                <a:latin typeface="Arial"/>
                <a:cs typeface="Arial"/>
              </a:rPr>
              <a:t>node</a:t>
            </a: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 global lock on </a:t>
            </a:r>
            <a:r>
              <a:rPr lang="de-DE" b="1" err="1">
                <a:solidFill>
                  <a:srgbClr val="C40D1E"/>
                </a:solidFill>
                <a:latin typeface="Arial"/>
                <a:cs typeface="Arial"/>
              </a:rPr>
              <a:t>the</a:t>
            </a: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 WAL</a:t>
            </a:r>
            <a:endParaRPr lang="en-US"/>
          </a:p>
          <a:p>
            <a:pPr marL="0" indent="0">
              <a:buNone/>
            </a:pPr>
            <a:r>
              <a:rPr lang="de-DE" err="1">
                <a:latin typeface="Arial"/>
                <a:cs typeface="Arial"/>
              </a:rPr>
              <a:t>Serialized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commits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limit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throughput</a:t>
            </a:r>
            <a:r>
              <a:rPr lang="de-DE">
                <a:latin typeface="Arial"/>
                <a:cs typeface="Arial"/>
              </a:rPr>
              <a:t> at </a:t>
            </a:r>
            <a:r>
              <a:rPr lang="de-DE" b="1">
                <a:latin typeface="Arial"/>
                <a:cs typeface="Arial"/>
              </a:rPr>
              <a:t>~10,000 </a:t>
            </a:r>
            <a:r>
              <a:rPr lang="de-DE" b="1" err="1">
                <a:latin typeface="Arial"/>
                <a:cs typeface="Arial"/>
              </a:rPr>
              <a:t>writes</a:t>
            </a:r>
            <a:r>
              <a:rPr lang="de-DE" b="1">
                <a:latin typeface="Arial"/>
                <a:cs typeface="Arial"/>
              </a:rPr>
              <a:t>/s</a:t>
            </a:r>
            <a:r>
              <a:rPr lang="de-DE">
                <a:latin typeface="Arial"/>
                <a:cs typeface="Arial"/>
              </a:rPr>
              <a:t> per </a:t>
            </a:r>
            <a:r>
              <a:rPr lang="de-DE" err="1">
                <a:latin typeface="Arial"/>
                <a:cs typeface="Arial"/>
              </a:rPr>
              <a:t>node</a:t>
            </a:r>
            <a:endParaRPr lang="de-DE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12ADB-991C-4BAB-EC6B-D2B33C79E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System Limitations &amp; Future Work</a:t>
            </a:r>
            <a:endParaRPr lang="en-US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374F27E-3479-C92F-EFDD-F0E337EA9AC5}"/>
              </a:ext>
            </a:extLst>
          </p:cNvPr>
          <p:cNvSpPr txBox="1">
            <a:spLocks/>
          </p:cNvSpPr>
          <p:nvPr/>
        </p:nvSpPr>
        <p:spPr>
          <a:xfrm>
            <a:off x="8267011" y="2048102"/>
            <a:ext cx="3373120" cy="1016000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de-DE" b="1">
              <a:solidFill>
                <a:srgbClr val="104866"/>
              </a:solidFill>
              <a:latin typeface="Arial"/>
              <a:cs typeface="Arial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3AFE62D-ABDC-C493-2A53-1DEB13E3B5F1}"/>
              </a:ext>
            </a:extLst>
          </p:cNvPr>
          <p:cNvSpPr txBox="1">
            <a:spLocks/>
          </p:cNvSpPr>
          <p:nvPr/>
        </p:nvSpPr>
        <p:spPr>
          <a:xfrm>
            <a:off x="1929061" y="4111772"/>
            <a:ext cx="3648779" cy="1229360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err="1">
                <a:solidFill>
                  <a:srgbClr val="C40D1E"/>
                </a:solidFill>
                <a:latin typeface="Arial"/>
                <a:cs typeface="Arial"/>
              </a:rPr>
              <a:t>Centralized</a:t>
            </a: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 Control Plane</a:t>
            </a:r>
            <a:endParaRPr lang="en-US"/>
          </a:p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Single </a:t>
            </a:r>
            <a:r>
              <a:rPr lang="de-DE" err="1">
                <a:latin typeface="Arial"/>
                <a:cs typeface="Arial"/>
              </a:rPr>
              <a:t>coordinator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manages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epochs</a:t>
            </a:r>
            <a:r>
              <a:rPr lang="de-DE">
                <a:latin typeface="Arial"/>
                <a:cs typeface="Arial"/>
              </a:rPr>
              <a:t> and </a:t>
            </a:r>
            <a:r>
              <a:rPr lang="de-DE" err="1">
                <a:latin typeface="Arial"/>
                <a:cs typeface="Arial"/>
              </a:rPr>
              <a:t>resharding</a:t>
            </a:r>
            <a:endParaRPr lang="de-DE">
              <a:latin typeface="Arial"/>
              <a:cs typeface="Arial"/>
            </a:endParaRPr>
          </a:p>
        </p:txBody>
      </p:sp>
      <p:pic>
        <p:nvPicPr>
          <p:cNvPr id="11" name="Grafik 10" descr="Server Silhouette">
            <a:extLst>
              <a:ext uri="{FF2B5EF4-FFF2-40B4-BE49-F238E27FC236}">
                <a16:creationId xmlns:a16="http://schemas.microsoft.com/office/drawing/2014/main" id="{34CE9A9A-C8D6-5576-D558-25584C840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162" y="4157492"/>
            <a:ext cx="914400" cy="9144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12D9235-9639-BC22-B48F-332C8CB46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2457" y="4128734"/>
            <a:ext cx="914400" cy="914400"/>
          </a:xfrm>
          <a:prstGeom prst="rect">
            <a:avLst/>
          </a:prstGeom>
        </p:spPr>
      </p:pic>
      <p:pic>
        <p:nvPicPr>
          <p:cNvPr id="15" name="Grafik 14" descr="Filter Silhouette">
            <a:extLst>
              <a:ext uri="{FF2B5EF4-FFF2-40B4-BE49-F238E27FC236}">
                <a16:creationId xmlns:a16="http://schemas.microsoft.com/office/drawing/2014/main" id="{DC12DBD5-CB69-3E60-2334-2D13FA055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300492" y="290886"/>
            <a:ext cx="640080" cy="640080"/>
          </a:xfrm>
          <a:prstGeom prst="rect">
            <a:avLst/>
          </a:prstGeom>
        </p:spPr>
      </p:pic>
      <p:pic>
        <p:nvPicPr>
          <p:cNvPr id="17" name="Grafik 16" descr="Zahnrad Silhouette">
            <a:extLst>
              <a:ext uri="{FF2B5EF4-FFF2-40B4-BE49-F238E27FC236}">
                <a16:creationId xmlns:a16="http://schemas.microsoft.com/office/drawing/2014/main" id="{4535E754-49CD-560D-B8E0-FD66AB2C36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2392">
            <a:off x="-3224275" y="146171"/>
            <a:ext cx="274320" cy="274320"/>
          </a:xfrm>
          <a:prstGeom prst="rect">
            <a:avLst/>
          </a:prstGeom>
        </p:spPr>
      </p:pic>
      <p:pic>
        <p:nvPicPr>
          <p:cNvPr id="18" name="Grafik 17" descr="Zahnrad Silhouette">
            <a:extLst>
              <a:ext uri="{FF2B5EF4-FFF2-40B4-BE49-F238E27FC236}">
                <a16:creationId xmlns:a16="http://schemas.microsoft.com/office/drawing/2014/main" id="{C65E75F1-D9E5-AE56-021C-7BE8BA755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112532" y="0"/>
            <a:ext cx="274320" cy="274320"/>
          </a:xfrm>
          <a:prstGeom prst="rect">
            <a:avLst/>
          </a:prstGeom>
        </p:spPr>
      </p:pic>
      <p:pic>
        <p:nvPicPr>
          <p:cNvPr id="19" name="Grafik 18" descr="Zahnrad Silhouette">
            <a:extLst>
              <a:ext uri="{FF2B5EF4-FFF2-40B4-BE49-F238E27FC236}">
                <a16:creationId xmlns:a16="http://schemas.microsoft.com/office/drawing/2014/main" id="{BF54B47D-A241-F2AE-8DAC-577A1F0E2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96649">
            <a:off x="-2993676" y="137160"/>
            <a:ext cx="274320" cy="27432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7FE1D0C-C66A-AD86-745A-0C0C094FF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1191" y="2100384"/>
            <a:ext cx="914400" cy="914400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D1C11092-AA74-362D-C63C-ED901097CD5A}"/>
              </a:ext>
            </a:extLst>
          </p:cNvPr>
          <p:cNvSpPr/>
          <p:nvPr/>
        </p:nvSpPr>
        <p:spPr>
          <a:xfrm>
            <a:off x="729442" y="2046108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fik 23" descr="Zahnrad Silhouette">
            <a:extLst>
              <a:ext uri="{FF2B5EF4-FFF2-40B4-BE49-F238E27FC236}">
                <a16:creationId xmlns:a16="http://schemas.microsoft.com/office/drawing/2014/main" id="{9E0F6444-1176-A513-17CB-96583F837B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114951" y="810306"/>
            <a:ext cx="274320" cy="274320"/>
          </a:xfrm>
          <a:prstGeom prst="rect">
            <a:avLst/>
          </a:prstGeom>
        </p:spPr>
      </p:pic>
      <p:pic>
        <p:nvPicPr>
          <p:cNvPr id="26" name="Grafik 25" descr="Zahnräder mit einfarbiger Füllung">
            <a:extLst>
              <a:ext uri="{FF2B5EF4-FFF2-40B4-BE49-F238E27FC236}">
                <a16:creationId xmlns:a16="http://schemas.microsoft.com/office/drawing/2014/main" id="{05B83A20-9121-CB17-7BD8-5E1551CD2C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607" y="2121888"/>
            <a:ext cx="411480" cy="411480"/>
          </a:xfrm>
          <a:prstGeom prst="rect">
            <a:avLst/>
          </a:prstGeom>
        </p:spPr>
      </p:pic>
      <p:pic>
        <p:nvPicPr>
          <p:cNvPr id="28" name="Grafik 27" descr="Zahnrad mit einfarbiger Füllung">
            <a:extLst>
              <a:ext uri="{FF2B5EF4-FFF2-40B4-BE49-F238E27FC236}">
                <a16:creationId xmlns:a16="http://schemas.microsoft.com/office/drawing/2014/main" id="{DB0EC06E-EE99-53C5-FCFC-2CC400707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68770">
            <a:off x="1204672" y="2274235"/>
            <a:ext cx="265176" cy="265176"/>
          </a:xfrm>
          <a:prstGeom prst="rect">
            <a:avLst/>
          </a:prstGeom>
        </p:spPr>
      </p:pic>
      <p:pic>
        <p:nvPicPr>
          <p:cNvPr id="29" name="Grafik 28" descr="Filter Silhouette">
            <a:extLst>
              <a:ext uri="{FF2B5EF4-FFF2-40B4-BE49-F238E27FC236}">
                <a16:creationId xmlns:a16="http://schemas.microsoft.com/office/drawing/2014/main" id="{280DD6BE-EBE7-40E4-0592-60B6C4A2A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322" y="2416528"/>
            <a:ext cx="640080" cy="640080"/>
          </a:xfrm>
          <a:prstGeom prst="rect">
            <a:avLst/>
          </a:prstGeom>
        </p:spPr>
      </p:pic>
      <p:sp>
        <p:nvSpPr>
          <p:cNvPr id="44" name="Pfeil: nach rechts 43">
            <a:extLst>
              <a:ext uri="{FF2B5EF4-FFF2-40B4-BE49-F238E27FC236}">
                <a16:creationId xmlns:a16="http://schemas.microsoft.com/office/drawing/2014/main" id="{E75F9568-4DC6-4D8F-D2FA-BFFD8D939752}"/>
              </a:ext>
            </a:extLst>
          </p:cNvPr>
          <p:cNvSpPr/>
          <p:nvPr/>
        </p:nvSpPr>
        <p:spPr>
          <a:xfrm>
            <a:off x="5998889" y="2436323"/>
            <a:ext cx="548640" cy="274320"/>
          </a:xfrm>
          <a:prstGeom prst="rightArrow">
            <a:avLst/>
          </a:prstGeom>
          <a:solidFill>
            <a:srgbClr val="66666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7D3B0A6B-F74F-BB5E-453D-6337D5AC9D3C}"/>
              </a:ext>
            </a:extLst>
          </p:cNvPr>
          <p:cNvSpPr/>
          <p:nvPr/>
        </p:nvSpPr>
        <p:spPr>
          <a:xfrm>
            <a:off x="6004582" y="4522531"/>
            <a:ext cx="548640" cy="274320"/>
          </a:xfrm>
          <a:prstGeom prst="rightArrow">
            <a:avLst/>
          </a:prstGeom>
          <a:solidFill>
            <a:srgbClr val="66666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6F8075-441F-8A77-9F27-A853A4269B8C}"/>
              </a:ext>
            </a:extLst>
          </p:cNvPr>
          <p:cNvSpPr txBox="1"/>
          <p:nvPr/>
        </p:nvSpPr>
        <p:spPr>
          <a:xfrm>
            <a:off x="464602" y="5884042"/>
            <a:ext cx="1043250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200" i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See the README for a </a:t>
            </a:r>
            <a:r>
              <a:rPr lang="de-DE" sz="1200" i="1" err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full</a:t>
            </a:r>
            <a:r>
              <a:rPr lang="de-DE" sz="1200" i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 </a:t>
            </a:r>
            <a:r>
              <a:rPr lang="de-DE" sz="1200" i="1" err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list</a:t>
            </a:r>
            <a:r>
              <a:rPr lang="de-DE" sz="1200" i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 of </a:t>
            </a:r>
            <a:r>
              <a:rPr lang="de-DE" sz="1200" i="1" err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known</a:t>
            </a:r>
            <a:r>
              <a:rPr lang="de-DE" sz="1200" i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 </a:t>
            </a:r>
            <a:r>
              <a:rPr lang="de-DE" sz="1200" i="1" err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limitations</a:t>
            </a:r>
            <a:r>
              <a:rPr lang="de-DE" sz="1200" i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.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B597B3-565C-D3EF-210B-50914EDF2AFC}"/>
              </a:ext>
            </a:extLst>
          </p:cNvPr>
          <p:cNvSpPr txBox="1">
            <a:spLocks/>
          </p:cNvSpPr>
          <p:nvPr/>
        </p:nvSpPr>
        <p:spPr>
          <a:xfrm>
            <a:off x="8225129" y="2046108"/>
            <a:ext cx="3740219" cy="1229360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>
                <a:solidFill>
                  <a:srgbClr val="104866"/>
                </a:solidFill>
                <a:latin typeface="Arial"/>
                <a:ea typeface="+mn-lt"/>
                <a:cs typeface="Arial"/>
              </a:rPr>
              <a:t>Scale Up &amp; Parallel Write</a:t>
            </a:r>
            <a:r>
              <a:rPr lang="de-DE">
                <a:solidFill>
                  <a:srgbClr val="104866"/>
                </a:solidFill>
                <a:latin typeface="Arial"/>
                <a:ea typeface="+mn-lt"/>
                <a:cs typeface="Arial"/>
              </a:rPr>
              <a:t>:</a:t>
            </a:r>
          </a:p>
          <a:p>
            <a:pPr marL="0" indent="0">
              <a:buNone/>
            </a:pPr>
            <a:r>
              <a:rPr lang="de-DE">
                <a:latin typeface="Arial"/>
                <a:ea typeface="+mn-lt"/>
                <a:cs typeface="Arial"/>
              </a:rPr>
              <a:t>Shard </a:t>
            </a:r>
            <a:r>
              <a:rPr lang="de-DE" err="1">
                <a:latin typeface="Arial"/>
                <a:ea typeface="+mn-lt"/>
                <a:cs typeface="Arial"/>
              </a:rPr>
              <a:t>partition</a:t>
            </a:r>
            <a:r>
              <a:rPr lang="de-DE">
                <a:latin typeface="Arial"/>
                <a:ea typeface="+mn-lt"/>
                <a:cs typeface="Arial"/>
              </a:rPr>
              <a:t> </a:t>
            </a:r>
            <a:r>
              <a:rPr lang="de-DE" err="1">
                <a:latin typeface="Arial"/>
                <a:ea typeface="+mn-lt"/>
                <a:cs typeface="Arial"/>
              </a:rPr>
              <a:t>by</a:t>
            </a:r>
            <a:r>
              <a:rPr lang="de-DE">
                <a:latin typeface="Arial"/>
                <a:ea typeface="+mn-lt"/>
                <a:cs typeface="Arial"/>
              </a:rPr>
              <a:t> </a:t>
            </a:r>
            <a:r>
              <a:rPr lang="de-DE" err="1">
                <a:latin typeface="Arial"/>
                <a:ea typeface="+mn-lt"/>
                <a:cs typeface="Arial"/>
              </a:rPr>
              <a:t>key</a:t>
            </a:r>
            <a:r>
              <a:rPr lang="de-DE">
                <a:latin typeface="Arial"/>
                <a:ea typeface="+mn-lt"/>
                <a:cs typeface="Arial"/>
              </a:rPr>
              <a:t> </a:t>
            </a:r>
            <a:r>
              <a:rPr lang="de-DE" err="1">
                <a:latin typeface="Arial"/>
                <a:ea typeface="+mn-lt"/>
                <a:cs typeface="Arial"/>
              </a:rPr>
              <a:t>across</a:t>
            </a:r>
            <a:r>
              <a:rPr lang="de-DE">
                <a:latin typeface="Arial"/>
                <a:ea typeface="+mn-lt"/>
                <a:cs typeface="Arial"/>
              </a:rPr>
              <a:t> </a:t>
            </a:r>
            <a:r>
              <a:rPr lang="de-DE" err="1">
                <a:latin typeface="Arial"/>
                <a:ea typeface="+mn-lt"/>
                <a:cs typeface="Arial"/>
              </a:rPr>
              <a:t>workers</a:t>
            </a:r>
            <a:endParaRPr lang="de-DE">
              <a:latin typeface="Arial"/>
              <a:ea typeface="Calibri"/>
              <a:cs typeface="Arial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BD457516-E7C6-6604-51B1-C4DF025CE5B5}"/>
              </a:ext>
            </a:extLst>
          </p:cNvPr>
          <p:cNvSpPr txBox="1">
            <a:spLocks/>
          </p:cNvSpPr>
          <p:nvPr/>
        </p:nvSpPr>
        <p:spPr>
          <a:xfrm>
            <a:off x="8109737" y="4107448"/>
            <a:ext cx="3740219" cy="1229360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04866"/>
                </a:solidFill>
              </a:rPr>
              <a:t>Replicated Control Plane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backed by a consensus store (e.g. </a:t>
            </a:r>
            <a:r>
              <a:rPr lang="en-US" err="1">
                <a:latin typeface="Arial"/>
                <a:cs typeface="Arial"/>
              </a:rPr>
              <a:t>ZooKeeper</a:t>
            </a:r>
            <a:r>
              <a:rPr lang="en-US">
                <a:latin typeface="Arial"/>
                <a:cs typeface="Arial"/>
              </a:rPr>
              <a:t>, </a:t>
            </a:r>
            <a:r>
              <a:rPr lang="en-US" err="1">
                <a:latin typeface="Arial"/>
                <a:cs typeface="Arial"/>
              </a:rPr>
              <a:t>etcd</a:t>
            </a:r>
            <a:r>
              <a:rPr lang="en-US">
                <a:latin typeface="Arial"/>
                <a:cs typeface="Arial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8418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B5B591-EAD3-9579-EBDB-FCB1B682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04536-DAD9-2C56-A6D8-4E09E9BC14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Vertical Scaling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72B745D-6E26-C53F-AC1A-2F03883CF588}"/>
              </a:ext>
            </a:extLst>
          </p:cNvPr>
          <p:cNvSpPr txBox="1">
            <a:spLocks/>
          </p:cNvSpPr>
          <p:nvPr/>
        </p:nvSpPr>
        <p:spPr>
          <a:xfrm>
            <a:off x="6725158" y="1631294"/>
            <a:ext cx="5099050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Write </a:t>
            </a:r>
            <a:r>
              <a:rPr lang="de-DE" err="1">
                <a:latin typeface="Arial"/>
                <a:cs typeface="Arial"/>
              </a:rPr>
              <a:t>processing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benefits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from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faster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cores</a:t>
            </a:r>
            <a:endParaRPr lang="de-DE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258A04EF-7CD3-2EDA-11DA-41F27D3938DB}"/>
              </a:ext>
            </a:extLst>
          </p:cNvPr>
          <p:cNvSpPr txBox="1">
            <a:spLocks/>
          </p:cNvSpPr>
          <p:nvPr/>
        </p:nvSpPr>
        <p:spPr>
          <a:xfrm>
            <a:off x="1171121" y="1631294"/>
            <a:ext cx="5730421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Primary fan-out benefits from more cores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786CC-D992-3E18-9211-FD13EA041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9" y="2046512"/>
            <a:ext cx="5752221" cy="359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120C6-828F-A717-C2F7-848CAFD1C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46514"/>
            <a:ext cx="5762172" cy="35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0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B3B34E-40D0-527D-753C-A7056370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8356B-C6F1-E931-5274-8FE0B56EFF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Vertical Scaling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18F75D3E-F483-9841-FAF7-353410D3C79E}"/>
              </a:ext>
            </a:extLst>
          </p:cNvPr>
          <p:cNvSpPr txBox="1">
            <a:spLocks/>
          </p:cNvSpPr>
          <p:nvPr/>
        </p:nvSpPr>
        <p:spPr>
          <a:xfrm>
            <a:off x="6725158" y="1631294"/>
            <a:ext cx="5099050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Write </a:t>
            </a:r>
            <a:r>
              <a:rPr lang="de-DE" err="1">
                <a:latin typeface="Arial"/>
                <a:cs typeface="Arial"/>
              </a:rPr>
              <a:t>processing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benefits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from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faster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cores</a:t>
            </a:r>
            <a:endParaRPr lang="de-DE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2816169F-5779-F9D9-9E5E-722115EF32D7}"/>
              </a:ext>
            </a:extLst>
          </p:cNvPr>
          <p:cNvSpPr txBox="1">
            <a:spLocks/>
          </p:cNvSpPr>
          <p:nvPr/>
        </p:nvSpPr>
        <p:spPr>
          <a:xfrm>
            <a:off x="1171121" y="1631294"/>
            <a:ext cx="5730421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Primary fan-out benefits from more cores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D5DFE-E359-CFBF-21FE-913902A6C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9" y="2046512"/>
            <a:ext cx="5752221" cy="359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976E52-B3F6-95CA-1DD8-E5AA1E03F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46514"/>
            <a:ext cx="5762172" cy="35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90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DE22FC-6301-FDEC-D74E-52B14943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D2EF94-8426-0903-1AC2-D91345ECF9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71600"/>
            <a:ext cx="9721850" cy="1133675"/>
          </a:xfrm>
        </p:spPr>
        <p:txBody>
          <a:bodyPr lIns="0" tIns="0" rIns="91440" bIns="45720" anchor="t"/>
          <a:lstStyle/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Primary-</a:t>
            </a:r>
            <a:r>
              <a:rPr lang="de-DE" err="1">
                <a:latin typeface="Arial"/>
                <a:cs typeface="Arial"/>
              </a:rPr>
              <a:t>driven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replication</a:t>
            </a:r>
            <a:r>
              <a:rPr lang="de-DE">
                <a:latin typeface="Arial"/>
                <a:cs typeface="Arial"/>
              </a:rPr>
              <a:t> </a:t>
            </a:r>
            <a:r>
              <a:rPr lang="de-DE" err="1">
                <a:latin typeface="Arial"/>
                <a:cs typeface="Arial"/>
              </a:rPr>
              <a:t>reduces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throughput</a:t>
            </a:r>
            <a:r>
              <a:rPr lang="de-DE">
                <a:latin typeface="Arial"/>
                <a:cs typeface="Arial"/>
              </a:rPr>
              <a:t> by </a:t>
            </a:r>
            <a:r>
              <a:rPr lang="de-DE" b="1">
                <a:solidFill>
                  <a:srgbClr val="C40D1E"/>
                </a:solidFill>
                <a:latin typeface="Arial"/>
                <a:cs typeface="Arial"/>
              </a:rPr>
              <a:t>~55%</a:t>
            </a:r>
            <a:endParaRPr lang="de-DE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Trade-off: </a:t>
            </a:r>
            <a:r>
              <a:rPr lang="de-DE" err="1">
                <a:latin typeface="Arial"/>
                <a:cs typeface="Arial"/>
              </a:rPr>
              <a:t>Complex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conflict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resolution</a:t>
            </a:r>
            <a:r>
              <a:rPr lang="de-DE">
                <a:latin typeface="Arial"/>
                <a:cs typeface="Arial"/>
              </a:rPr>
              <a:t> &amp; </a:t>
            </a:r>
            <a:r>
              <a:rPr lang="de-DE" err="1">
                <a:latin typeface="Arial"/>
                <a:cs typeface="Arial"/>
              </a:rPr>
              <a:t>sacrifices</a:t>
            </a:r>
            <a:r>
              <a:rPr lang="de-DE">
                <a:latin typeface="Arial"/>
                <a:cs typeface="Arial"/>
              </a:rPr>
              <a:t> strong </a:t>
            </a:r>
            <a:r>
              <a:rPr lang="de-DE" err="1">
                <a:latin typeface="Arial"/>
                <a:cs typeface="Arial"/>
              </a:rPr>
              <a:t>consistency</a:t>
            </a:r>
            <a:endParaRPr lang="de-DE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A721D-CFE6-AE80-D423-34EAA7C728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Gateway vs. Primary Fan-Out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952925C-1618-D678-C10E-CDE826712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52" y="2322220"/>
            <a:ext cx="5749749" cy="359359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EBDD150-8607-0986-24AB-98E328E72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99" y="2322220"/>
            <a:ext cx="5749748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3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205932-72A8-2894-B17B-E8AB89FB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3C3D7-B6AC-7A5A-4D76-F5A55562D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Scalability Results: Vertical Scaling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143F1DFB-F058-97C7-F168-9E9F5461C048}"/>
              </a:ext>
            </a:extLst>
          </p:cNvPr>
          <p:cNvSpPr txBox="1">
            <a:spLocks/>
          </p:cNvSpPr>
          <p:nvPr/>
        </p:nvSpPr>
        <p:spPr>
          <a:xfrm>
            <a:off x="6725158" y="1631294"/>
            <a:ext cx="5099050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>
                <a:latin typeface="Arial"/>
                <a:cs typeface="Arial"/>
              </a:rPr>
              <a:t>Write </a:t>
            </a:r>
            <a:r>
              <a:rPr lang="de-DE" err="1">
                <a:latin typeface="Arial"/>
                <a:cs typeface="Arial"/>
              </a:rPr>
              <a:t>processing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benefits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from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faster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cores</a:t>
            </a:r>
            <a:endParaRPr lang="de-DE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50F3739F-787A-91DF-2C22-58960285BE23}"/>
              </a:ext>
            </a:extLst>
          </p:cNvPr>
          <p:cNvSpPr txBox="1">
            <a:spLocks/>
          </p:cNvSpPr>
          <p:nvPr/>
        </p:nvSpPr>
        <p:spPr>
          <a:xfrm>
            <a:off x="1396093" y="1631294"/>
            <a:ext cx="4699907" cy="415218"/>
          </a:xfrm>
          <a:prstGeom prst="rect">
            <a:avLst/>
          </a:prstGeom>
        </p:spPr>
        <p:txBody>
          <a:bodyPr lIns="0" tIns="0" rIns="91440" bIns="45720" anchor="t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Replication benefits from more cores</a:t>
            </a:r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B166F1B-240A-BA13-0277-E4914625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52" y="2046512"/>
            <a:ext cx="5749748" cy="35935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BEEF639-79B5-E63E-8A5E-4F0B151E7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901" y="2046512"/>
            <a:ext cx="5749748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C8FA15-FBDB-1F86-FA08-5FE2813F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7C580-7C4D-C5A5-4033-33907FA02A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Overload Protection &amp; Write Quorum Replication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54444A5-1853-7296-3FCA-1CC0CB3A345A}"/>
              </a:ext>
            </a:extLst>
          </p:cNvPr>
          <p:cNvSpPr/>
          <p:nvPr/>
        </p:nvSpPr>
        <p:spPr>
          <a:xfrm>
            <a:off x="1166606" y="1351086"/>
            <a:ext cx="1698610" cy="537952"/>
          </a:xfrm>
          <a:prstGeom prst="round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5" name="Rechteck: obere Ecken abgeschnitten 4">
            <a:extLst>
              <a:ext uri="{FF2B5EF4-FFF2-40B4-BE49-F238E27FC236}">
                <a16:creationId xmlns:a16="http://schemas.microsoft.com/office/drawing/2014/main" id="{A4B329B2-E6DE-98DB-AFDE-E6E530D4CBBF}"/>
              </a:ext>
            </a:extLst>
          </p:cNvPr>
          <p:cNvSpPr/>
          <p:nvPr/>
        </p:nvSpPr>
        <p:spPr>
          <a:xfrm rot="10800000">
            <a:off x="409916" y="2383796"/>
            <a:ext cx="3211972" cy="822675"/>
          </a:xfrm>
          <a:prstGeom prst="snip2SameRect">
            <a:avLst>
              <a:gd name="adj1" fmla="val 41558"/>
              <a:gd name="adj2" fmla="val 0"/>
            </a:avLst>
          </a:prstGeom>
          <a:solidFill>
            <a:srgbClr val="EAF4FB"/>
          </a:solidFill>
          <a:ln w="19050">
            <a:solidFill>
              <a:srgbClr val="1F9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b="1">
              <a:solidFill>
                <a:srgbClr val="2269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obere Ecken abgeschnitten 5">
            <a:extLst>
              <a:ext uri="{FF2B5EF4-FFF2-40B4-BE49-F238E27FC236}">
                <a16:creationId xmlns:a16="http://schemas.microsoft.com/office/drawing/2014/main" id="{AAE8997F-7AB0-8CFE-E259-28D8463454AD}"/>
              </a:ext>
            </a:extLst>
          </p:cNvPr>
          <p:cNvSpPr/>
          <p:nvPr/>
        </p:nvSpPr>
        <p:spPr>
          <a:xfrm rot="10800000">
            <a:off x="721357" y="3454616"/>
            <a:ext cx="2589581" cy="822960"/>
          </a:xfrm>
          <a:prstGeom prst="snip2SameRect">
            <a:avLst>
              <a:gd name="adj1" fmla="val 35935"/>
              <a:gd name="adj2" fmla="val 0"/>
            </a:avLst>
          </a:prstGeom>
          <a:solidFill>
            <a:srgbClr val="EAF4FB"/>
          </a:solidFill>
          <a:ln w="19050">
            <a:solidFill>
              <a:srgbClr val="1F9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: obere Ecken abgeschnitten 8">
            <a:extLst>
              <a:ext uri="{FF2B5EF4-FFF2-40B4-BE49-F238E27FC236}">
                <a16:creationId xmlns:a16="http://schemas.microsoft.com/office/drawing/2014/main" id="{ED777EB1-A07C-8218-693D-8BC64A0983A5}"/>
              </a:ext>
            </a:extLst>
          </p:cNvPr>
          <p:cNvSpPr/>
          <p:nvPr/>
        </p:nvSpPr>
        <p:spPr>
          <a:xfrm rot="10800000">
            <a:off x="990202" y="4494614"/>
            <a:ext cx="2045940" cy="822960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EAF4FB"/>
          </a:solidFill>
          <a:ln w="19050">
            <a:solidFill>
              <a:srgbClr val="1F9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8260A88-02F8-0606-888D-466B88F58D45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flipH="1">
            <a:off x="2015902" y="1889038"/>
            <a:ext cx="9" cy="494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3C4343B5-D1FC-D142-6205-75C6180A1282}"/>
              </a:ext>
            </a:extLst>
          </p:cNvPr>
          <p:cNvSpPr txBox="1"/>
          <p:nvPr/>
        </p:nvSpPr>
        <p:spPr>
          <a:xfrm>
            <a:off x="2015907" y="1956927"/>
            <a:ext cx="2106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POST /</a:t>
            </a:r>
            <a:r>
              <a:rPr lang="de-DE" sz="1400" b="1" err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events</a:t>
            </a:r>
            <a:endParaRPr lang="de-DE" sz="1400" b="1">
              <a:solidFill>
                <a:schemeClr val="bg2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8A928EB-48E8-C89F-2549-786B1D423BD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015902" y="3206471"/>
            <a:ext cx="245" cy="2481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2FD75D4-51AA-D569-5C50-E4E032EF88E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H="1">
            <a:off x="2013172" y="4277576"/>
            <a:ext cx="2975" cy="217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F8461B8-6712-2318-72FE-5B3B3A659B74}"/>
              </a:ext>
            </a:extLst>
          </p:cNvPr>
          <p:cNvCxnSpPr>
            <a:cxnSpLocks/>
            <a:stCxn id="9" idx="3"/>
            <a:endCxn id="39" idx="0"/>
          </p:cNvCxnSpPr>
          <p:nvPr/>
        </p:nvCxnSpPr>
        <p:spPr>
          <a:xfrm>
            <a:off x="2013172" y="5317574"/>
            <a:ext cx="0" cy="2761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2ADF94BC-D386-AABC-E820-92C4AA6D6B6D}"/>
              </a:ext>
            </a:extLst>
          </p:cNvPr>
          <p:cNvSpPr/>
          <p:nvPr/>
        </p:nvSpPr>
        <p:spPr>
          <a:xfrm>
            <a:off x="1303589" y="5593713"/>
            <a:ext cx="1419165" cy="603887"/>
          </a:xfrm>
          <a:prstGeom prst="roundRect">
            <a:avLst/>
          </a:prstGeom>
          <a:solidFill>
            <a:srgbClr val="EAF6EE"/>
          </a:solidFill>
          <a:ln w="19050">
            <a:solidFill>
              <a:srgbClr val="49CB4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Request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6EFDF545-A8D8-6651-8297-7236F14C713D}"/>
              </a:ext>
            </a:extLst>
          </p:cNvPr>
          <p:cNvSpPr txBox="1"/>
          <p:nvPr/>
        </p:nvSpPr>
        <p:spPr>
          <a:xfrm>
            <a:off x="1298312" y="2523178"/>
            <a:ext cx="20486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 </a:t>
            </a:r>
            <a:r>
              <a:rPr lang="de-DE" sz="1600" b="1" err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Bucket</a:t>
            </a:r>
            <a:endParaRPr lang="de-DE" sz="1600" b="1">
              <a:solidFill>
                <a:srgbClr val="1048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(Gateway)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BB72DFD1-6E68-0B31-29C0-956151392E4C}"/>
              </a:ext>
            </a:extLst>
          </p:cNvPr>
          <p:cNvSpPr txBox="1"/>
          <p:nvPr/>
        </p:nvSpPr>
        <p:spPr>
          <a:xfrm>
            <a:off x="1298312" y="3580104"/>
            <a:ext cx="20486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Breaker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(Gateway)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351A02CD-6BEE-A27E-8FE9-1B435467032E}"/>
              </a:ext>
            </a:extLst>
          </p:cNvPr>
          <p:cNvSpPr txBox="1"/>
          <p:nvPr/>
        </p:nvSpPr>
        <p:spPr>
          <a:xfrm>
            <a:off x="1462842" y="4494614"/>
            <a:ext cx="17240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 </a:t>
            </a:r>
            <a:r>
              <a:rPr lang="de-DE" sz="1600" b="1" err="1">
                <a:solidFill>
                  <a:srgbClr val="1048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Shedding</a:t>
            </a:r>
            <a:endParaRPr lang="de-DE" sz="1600" b="1">
              <a:solidFill>
                <a:srgbClr val="1048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(Node)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EC7B68E-215D-2729-50AF-E8A21F72FDFF}"/>
              </a:ext>
            </a:extLst>
          </p:cNvPr>
          <p:cNvCxnSpPr>
            <a:cxnSpLocks/>
            <a:stCxn id="5" idx="2"/>
            <a:endCxn id="97" idx="1"/>
          </p:cNvCxnSpPr>
          <p:nvPr/>
        </p:nvCxnSpPr>
        <p:spPr>
          <a:xfrm>
            <a:off x="3621888" y="2795133"/>
            <a:ext cx="660942" cy="37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A1C834C4-7894-EF27-1501-40ACDD58A111}"/>
              </a:ext>
            </a:extLst>
          </p:cNvPr>
          <p:cNvCxnSpPr>
            <a:cxnSpLocks/>
            <a:stCxn id="9" idx="2"/>
            <a:endCxn id="143" idx="1"/>
          </p:cNvCxnSpPr>
          <p:nvPr/>
        </p:nvCxnSpPr>
        <p:spPr>
          <a:xfrm flipV="1">
            <a:off x="3036142" y="4901874"/>
            <a:ext cx="586507" cy="42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Rechteck: abgerundete Ecken 96">
            <a:extLst>
              <a:ext uri="{FF2B5EF4-FFF2-40B4-BE49-F238E27FC236}">
                <a16:creationId xmlns:a16="http://schemas.microsoft.com/office/drawing/2014/main" id="{51502813-1F4D-6C33-887D-A1ED5253F6A9}"/>
              </a:ext>
            </a:extLst>
          </p:cNvPr>
          <p:cNvSpPr/>
          <p:nvPr/>
        </p:nvSpPr>
        <p:spPr>
          <a:xfrm>
            <a:off x="4282830" y="2502671"/>
            <a:ext cx="2045939" cy="592496"/>
          </a:xfrm>
          <a:prstGeom prst="roundRect">
            <a:avLst/>
          </a:prstGeom>
          <a:solidFill>
            <a:srgbClr val="F9EBEB"/>
          </a:solidFill>
          <a:ln w="19050">
            <a:solidFill>
              <a:srgbClr val="C634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Drop </a:t>
            </a:r>
            <a:r>
              <a:rPr lang="de-DE" sz="16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endParaRPr lang="de-DE" sz="1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305EB0FD-7E49-27E2-DDD2-6257A8BFBBB2}"/>
              </a:ext>
            </a:extLst>
          </p:cNvPr>
          <p:cNvCxnSpPr>
            <a:cxnSpLocks/>
            <a:stCxn id="6" idx="2"/>
            <a:endCxn id="139" idx="1"/>
          </p:cNvCxnSpPr>
          <p:nvPr/>
        </p:nvCxnSpPr>
        <p:spPr>
          <a:xfrm>
            <a:off x="3310938" y="3866096"/>
            <a:ext cx="638283" cy="33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hteck: abgerundete Ecken 138">
            <a:extLst>
              <a:ext uri="{FF2B5EF4-FFF2-40B4-BE49-F238E27FC236}">
                <a16:creationId xmlns:a16="http://schemas.microsoft.com/office/drawing/2014/main" id="{7BF0F74C-BE34-2E52-FA67-C47991295FE5}"/>
              </a:ext>
            </a:extLst>
          </p:cNvPr>
          <p:cNvSpPr/>
          <p:nvPr/>
        </p:nvSpPr>
        <p:spPr>
          <a:xfrm>
            <a:off x="3949221" y="3573172"/>
            <a:ext cx="2045939" cy="592496"/>
          </a:xfrm>
          <a:prstGeom prst="roundRect">
            <a:avLst/>
          </a:prstGeom>
          <a:solidFill>
            <a:srgbClr val="F9EBEB"/>
          </a:solidFill>
          <a:ln w="19050">
            <a:solidFill>
              <a:srgbClr val="C634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</a:t>
            </a:r>
            <a:r>
              <a:rPr lang="de-DE" sz="16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Failed</a:t>
            </a:r>
            <a:r>
              <a:rPr lang="de-DE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Nodes</a:t>
            </a:r>
            <a:endParaRPr lang="de-DE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Rechteck: abgerundete Ecken 142">
            <a:extLst>
              <a:ext uri="{FF2B5EF4-FFF2-40B4-BE49-F238E27FC236}">
                <a16:creationId xmlns:a16="http://schemas.microsoft.com/office/drawing/2014/main" id="{99987819-A44F-77C7-F278-20B4014852E3}"/>
              </a:ext>
            </a:extLst>
          </p:cNvPr>
          <p:cNvSpPr/>
          <p:nvPr/>
        </p:nvSpPr>
        <p:spPr>
          <a:xfrm>
            <a:off x="3622649" y="4605626"/>
            <a:ext cx="2045939" cy="592496"/>
          </a:xfrm>
          <a:prstGeom prst="roundRect">
            <a:avLst/>
          </a:prstGeom>
          <a:solidFill>
            <a:srgbClr val="F9EBEB"/>
          </a:solidFill>
          <a:ln w="19050">
            <a:solidFill>
              <a:srgbClr val="C634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  <a:r>
              <a:rPr lang="de-DE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Request </a:t>
            </a: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400" b="1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429)</a:t>
            </a:r>
          </a:p>
        </p:txBody>
      </p:sp>
      <p:sp>
        <p:nvSpPr>
          <p:cNvPr id="232" name="Rechteck: abgerundete Ecken 231">
            <a:extLst>
              <a:ext uri="{FF2B5EF4-FFF2-40B4-BE49-F238E27FC236}">
                <a16:creationId xmlns:a16="http://schemas.microsoft.com/office/drawing/2014/main" id="{E9E6A9EC-1762-07F8-32C6-395B524A68C0}"/>
              </a:ext>
            </a:extLst>
          </p:cNvPr>
          <p:cNvSpPr/>
          <p:nvPr/>
        </p:nvSpPr>
        <p:spPr>
          <a:xfrm>
            <a:off x="8075406" y="1351086"/>
            <a:ext cx="1698610" cy="537952"/>
          </a:xfrm>
          <a:prstGeom prst="round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3C91A2ED-5BB0-F4B5-F606-4E97D8C958CB}"/>
              </a:ext>
            </a:extLst>
          </p:cNvPr>
          <p:cNvCxnSpPr>
            <a:cxnSpLocks/>
          </p:cNvCxnSpPr>
          <p:nvPr/>
        </p:nvCxnSpPr>
        <p:spPr>
          <a:xfrm>
            <a:off x="8542655" y="1896236"/>
            <a:ext cx="8057" cy="6739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Textfeld 234">
            <a:extLst>
              <a:ext uri="{FF2B5EF4-FFF2-40B4-BE49-F238E27FC236}">
                <a16:creationId xmlns:a16="http://schemas.microsoft.com/office/drawing/2014/main" id="{20EF86FF-0630-DBB7-AEAD-2D89F05F457E}"/>
              </a:ext>
            </a:extLst>
          </p:cNvPr>
          <p:cNvSpPr txBox="1"/>
          <p:nvPr/>
        </p:nvSpPr>
        <p:spPr>
          <a:xfrm>
            <a:off x="7033381" y="1902443"/>
            <a:ext cx="21069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POST /</a:t>
            </a:r>
            <a:r>
              <a:rPr lang="de-DE" sz="1400" b="1" err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events</a:t>
            </a:r>
            <a:endParaRPr lang="de-DE" sz="1400" b="1">
              <a:solidFill>
                <a:schemeClr val="bg2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de-DE" sz="1400" b="1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W=2 ACKS</a:t>
            </a:r>
          </a:p>
        </p:txBody>
      </p:sp>
      <p:sp>
        <p:nvSpPr>
          <p:cNvPr id="236" name="Rechteck: abgerundete Ecken 235">
            <a:extLst>
              <a:ext uri="{FF2B5EF4-FFF2-40B4-BE49-F238E27FC236}">
                <a16:creationId xmlns:a16="http://schemas.microsoft.com/office/drawing/2014/main" id="{6C40D96E-DFCC-5075-6817-5B0EC3E07B97}"/>
              </a:ext>
            </a:extLst>
          </p:cNvPr>
          <p:cNvSpPr/>
          <p:nvPr/>
        </p:nvSpPr>
        <p:spPr>
          <a:xfrm>
            <a:off x="8091520" y="2563029"/>
            <a:ext cx="1682496" cy="717437"/>
          </a:xfrm>
          <a:prstGeom prst="roundRect">
            <a:avLst/>
          </a:prstGeom>
          <a:solidFill>
            <a:srgbClr val="EAF4FB"/>
          </a:solid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2/3 ACKS</a:t>
            </a:r>
          </a:p>
        </p:txBody>
      </p: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F81A0212-4C2F-866D-918E-19701B5D3664}"/>
              </a:ext>
            </a:extLst>
          </p:cNvPr>
          <p:cNvCxnSpPr>
            <a:cxnSpLocks/>
          </p:cNvCxnSpPr>
          <p:nvPr/>
        </p:nvCxnSpPr>
        <p:spPr>
          <a:xfrm>
            <a:off x="9266710" y="1896236"/>
            <a:ext cx="8057" cy="673991"/>
          </a:xfrm>
          <a:prstGeom prst="straightConnector1">
            <a:avLst/>
          </a:prstGeom>
          <a:ln w="28575">
            <a:solidFill>
              <a:srgbClr val="47AA5A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Textfeld 238">
            <a:extLst>
              <a:ext uri="{FF2B5EF4-FFF2-40B4-BE49-F238E27FC236}">
                <a16:creationId xmlns:a16="http://schemas.microsoft.com/office/drawing/2014/main" id="{01F742B9-A9C3-B1AE-C032-6B6575C2DDC7}"/>
              </a:ext>
            </a:extLst>
          </p:cNvPr>
          <p:cNvSpPr txBox="1"/>
          <p:nvPr/>
        </p:nvSpPr>
        <p:spPr>
          <a:xfrm>
            <a:off x="8886307" y="1986515"/>
            <a:ext cx="2048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 </a:t>
            </a:r>
            <a:r>
              <a:rPr lang="de-DE" sz="1600" b="1">
                <a:latin typeface="Arial" panose="020B0604020202020204" pitchFamily="34" charset="0"/>
                <a:cs typeface="Arial" panose="020B0604020202020204" pitchFamily="34" charset="0"/>
              </a:rPr>
              <a:t>Success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hteck: abgerundete Ecken 239">
            <a:extLst>
              <a:ext uri="{FF2B5EF4-FFF2-40B4-BE49-F238E27FC236}">
                <a16:creationId xmlns:a16="http://schemas.microsoft.com/office/drawing/2014/main" id="{8494F2DE-59DE-7738-9904-15D86E05356A}"/>
              </a:ext>
            </a:extLst>
          </p:cNvPr>
          <p:cNvSpPr/>
          <p:nvPr/>
        </p:nvSpPr>
        <p:spPr>
          <a:xfrm>
            <a:off x="6817459" y="5056113"/>
            <a:ext cx="1457868" cy="717437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2" name="Grafik 241">
            <a:extLst>
              <a:ext uri="{FF2B5EF4-FFF2-40B4-BE49-F238E27FC236}">
                <a16:creationId xmlns:a16="http://schemas.microsoft.com/office/drawing/2014/main" id="{FFA5985E-0694-A4BE-E079-011ACE945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6093" y="5191929"/>
            <a:ext cx="467023" cy="467023"/>
          </a:xfrm>
          <a:prstGeom prst="rect">
            <a:avLst/>
          </a:prstGeom>
        </p:spPr>
      </p:pic>
      <p:sp>
        <p:nvSpPr>
          <p:cNvPr id="243" name="Textfeld 242">
            <a:extLst>
              <a:ext uri="{FF2B5EF4-FFF2-40B4-BE49-F238E27FC236}">
                <a16:creationId xmlns:a16="http://schemas.microsoft.com/office/drawing/2014/main" id="{60DA9800-EC9A-19FB-1A2C-D20DA83F33E9}"/>
              </a:ext>
            </a:extLst>
          </p:cNvPr>
          <p:cNvSpPr txBox="1"/>
          <p:nvPr/>
        </p:nvSpPr>
        <p:spPr>
          <a:xfrm>
            <a:off x="7308295" y="5150150"/>
            <a:ext cx="967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0 </a:t>
            </a:r>
          </a:p>
          <a:p>
            <a:pPr algn="ctr"/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Replica</a:t>
            </a:r>
          </a:p>
        </p:txBody>
      </p:sp>
      <p:sp>
        <p:nvSpPr>
          <p:cNvPr id="253" name="Rechteck: abgerundete Ecken 252">
            <a:extLst>
              <a:ext uri="{FF2B5EF4-FFF2-40B4-BE49-F238E27FC236}">
                <a16:creationId xmlns:a16="http://schemas.microsoft.com/office/drawing/2014/main" id="{9D7F0E7B-AAF1-1F56-F529-B19AF1477909}"/>
              </a:ext>
            </a:extLst>
          </p:cNvPr>
          <p:cNvSpPr/>
          <p:nvPr/>
        </p:nvSpPr>
        <p:spPr>
          <a:xfrm>
            <a:off x="8212961" y="4079515"/>
            <a:ext cx="1457868" cy="717437"/>
          </a:xfrm>
          <a:prstGeom prst="roundRect">
            <a:avLst/>
          </a:prstGeom>
          <a:solidFill>
            <a:srgbClr val="EAF6EE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4" name="Grafik 253">
            <a:extLst>
              <a:ext uri="{FF2B5EF4-FFF2-40B4-BE49-F238E27FC236}">
                <a16:creationId xmlns:a16="http://schemas.microsoft.com/office/drawing/2014/main" id="{A4B435DE-790A-03BB-B81B-6E0F225F1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1115" y="4215331"/>
            <a:ext cx="467023" cy="467023"/>
          </a:xfrm>
          <a:prstGeom prst="rect">
            <a:avLst/>
          </a:prstGeom>
        </p:spPr>
      </p:pic>
      <p:sp>
        <p:nvSpPr>
          <p:cNvPr id="255" name="Textfeld 254">
            <a:extLst>
              <a:ext uri="{FF2B5EF4-FFF2-40B4-BE49-F238E27FC236}">
                <a16:creationId xmlns:a16="http://schemas.microsoft.com/office/drawing/2014/main" id="{9BA13282-1D91-4E6A-B203-FA321BC8C630}"/>
              </a:ext>
            </a:extLst>
          </p:cNvPr>
          <p:cNvSpPr txBox="1"/>
          <p:nvPr/>
        </p:nvSpPr>
        <p:spPr>
          <a:xfrm>
            <a:off x="8673317" y="4173552"/>
            <a:ext cx="96703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1 </a:t>
            </a:r>
          </a:p>
          <a:p>
            <a:pPr algn="ctr"/>
            <a:r>
              <a:rPr lang="de-DE" sz="1400" b="1">
                <a:latin typeface="Arial"/>
                <a:cs typeface="Arial"/>
              </a:rPr>
              <a:t>Primary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4" name="Gerade Verbindung mit Pfeil 273">
            <a:extLst>
              <a:ext uri="{FF2B5EF4-FFF2-40B4-BE49-F238E27FC236}">
                <a16:creationId xmlns:a16="http://schemas.microsoft.com/office/drawing/2014/main" id="{25A189E6-92CE-1115-919B-8118279040F1}"/>
              </a:ext>
            </a:extLst>
          </p:cNvPr>
          <p:cNvCxnSpPr>
            <a:cxnSpLocks/>
            <a:stCxn id="236" idx="2"/>
            <a:endCxn id="253" idx="0"/>
          </p:cNvCxnSpPr>
          <p:nvPr/>
        </p:nvCxnSpPr>
        <p:spPr>
          <a:xfrm>
            <a:off x="8932768" y="3280466"/>
            <a:ext cx="9127" cy="799049"/>
          </a:xfrm>
          <a:prstGeom prst="straightConnector1">
            <a:avLst/>
          </a:prstGeom>
          <a:ln w="28575">
            <a:solidFill>
              <a:srgbClr val="47AA5A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Verbinder: gewinkelt 282">
            <a:extLst>
              <a:ext uri="{FF2B5EF4-FFF2-40B4-BE49-F238E27FC236}">
                <a16:creationId xmlns:a16="http://schemas.microsoft.com/office/drawing/2014/main" id="{7085A4CE-3313-74C1-0841-A16EFE7C5115}"/>
              </a:ext>
            </a:extLst>
          </p:cNvPr>
          <p:cNvCxnSpPr>
            <a:cxnSpLocks/>
            <a:stCxn id="240" idx="0"/>
            <a:endCxn id="253" idx="1"/>
          </p:cNvCxnSpPr>
          <p:nvPr/>
        </p:nvCxnSpPr>
        <p:spPr>
          <a:xfrm rot="5400000" flipH="1" flipV="1">
            <a:off x="7570738" y="4413890"/>
            <a:ext cx="617879" cy="666568"/>
          </a:xfrm>
          <a:prstGeom prst="bentConnector2">
            <a:avLst/>
          </a:prstGeom>
          <a:ln w="28575">
            <a:solidFill>
              <a:srgbClr val="47AA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feld 284">
            <a:extLst>
              <a:ext uri="{FF2B5EF4-FFF2-40B4-BE49-F238E27FC236}">
                <a16:creationId xmlns:a16="http://schemas.microsoft.com/office/drawing/2014/main" id="{F7577557-18E5-326C-29F9-4778B1310B17}"/>
              </a:ext>
            </a:extLst>
          </p:cNvPr>
          <p:cNvSpPr txBox="1"/>
          <p:nvPr/>
        </p:nvSpPr>
        <p:spPr>
          <a:xfrm>
            <a:off x="6644489" y="4118945"/>
            <a:ext cx="2048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 </a:t>
            </a:r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</a:p>
        </p:txBody>
      </p:sp>
      <p:sp>
        <p:nvSpPr>
          <p:cNvPr id="286" name="Textfeld 285">
            <a:extLst>
              <a:ext uri="{FF2B5EF4-FFF2-40B4-BE49-F238E27FC236}">
                <a16:creationId xmlns:a16="http://schemas.microsoft.com/office/drawing/2014/main" id="{59491318-F958-7D15-76BC-773221FA24E6}"/>
              </a:ext>
            </a:extLst>
          </p:cNvPr>
          <p:cNvSpPr txBox="1"/>
          <p:nvPr/>
        </p:nvSpPr>
        <p:spPr>
          <a:xfrm>
            <a:off x="7529776" y="3418031"/>
            <a:ext cx="2048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 </a:t>
            </a:r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</a:p>
        </p:txBody>
      </p:sp>
      <p:sp>
        <p:nvSpPr>
          <p:cNvPr id="291" name="Textfeld 290">
            <a:extLst>
              <a:ext uri="{FF2B5EF4-FFF2-40B4-BE49-F238E27FC236}">
                <a16:creationId xmlns:a16="http://schemas.microsoft.com/office/drawing/2014/main" id="{16E70D7B-4A52-6B38-9BB2-7102F5202A44}"/>
              </a:ext>
            </a:extLst>
          </p:cNvPr>
          <p:cNvSpPr txBox="1"/>
          <p:nvPr/>
        </p:nvSpPr>
        <p:spPr>
          <a:xfrm>
            <a:off x="8827135" y="4102619"/>
            <a:ext cx="294145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1400" b="1">
                <a:solidFill>
                  <a:srgbClr val="BD3939"/>
                </a:solidFill>
                <a:latin typeface="Arial"/>
                <a:cs typeface="Arial"/>
                <a:sym typeface="Wingdings" panose="05000000000000000000" pitchFamily="2" charset="2"/>
              </a:rPr>
              <a:t></a:t>
            </a:r>
            <a:r>
              <a:rPr lang="de-DE" sz="1400" b="1"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de-DE" sz="1400" b="1" err="1">
                <a:latin typeface="Arial"/>
                <a:cs typeface="Arial"/>
              </a:rPr>
              <a:t>Rejected</a:t>
            </a:r>
            <a:endParaRPr lang="de-DE" sz="1200" b="1">
              <a:latin typeface="Arial"/>
              <a:cs typeface="Arial"/>
            </a:endParaRPr>
          </a:p>
        </p:txBody>
      </p:sp>
      <p:sp>
        <p:nvSpPr>
          <p:cNvPr id="292" name="Rechteck: abgerundete Ecken 291">
            <a:extLst>
              <a:ext uri="{FF2B5EF4-FFF2-40B4-BE49-F238E27FC236}">
                <a16:creationId xmlns:a16="http://schemas.microsoft.com/office/drawing/2014/main" id="{8D872E65-FCC0-A094-AD76-5DD8AD97CFC7}"/>
              </a:ext>
            </a:extLst>
          </p:cNvPr>
          <p:cNvSpPr/>
          <p:nvPr/>
        </p:nvSpPr>
        <p:spPr>
          <a:xfrm>
            <a:off x="9541217" y="5058431"/>
            <a:ext cx="1619941" cy="715119"/>
          </a:xfrm>
          <a:prstGeom prst="roundRect">
            <a:avLst/>
          </a:prstGeom>
          <a:solidFill>
            <a:srgbClr val="F9EBEB"/>
          </a:solidFill>
          <a:ln>
            <a:solidFill>
              <a:srgbClr val="C94C4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400" b="1">
              <a:ln w="0"/>
              <a:solidFill>
                <a:srgbClr val="43434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Cascadia Code" panose="020B0609020000020004" pitchFamily="49" charset="0"/>
              <a:cs typeface="Arial" panose="020B0604020202020204" pitchFamily="34" charset="0"/>
            </a:endParaRPr>
          </a:p>
        </p:txBody>
      </p:sp>
      <p:pic>
        <p:nvPicPr>
          <p:cNvPr id="294" name="Grafik 293">
            <a:extLst>
              <a:ext uri="{FF2B5EF4-FFF2-40B4-BE49-F238E27FC236}">
                <a16:creationId xmlns:a16="http://schemas.microsoft.com/office/drawing/2014/main" id="{27FE851A-5A0F-B87E-F8E5-DADCC31476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6847" y="5201192"/>
            <a:ext cx="466344" cy="466344"/>
          </a:xfrm>
          <a:prstGeom prst="rect">
            <a:avLst/>
          </a:prstGeom>
        </p:spPr>
      </p:pic>
      <p:sp>
        <p:nvSpPr>
          <p:cNvPr id="258" name="Textfeld 257">
            <a:extLst>
              <a:ext uri="{FF2B5EF4-FFF2-40B4-BE49-F238E27FC236}">
                <a16:creationId xmlns:a16="http://schemas.microsoft.com/office/drawing/2014/main" id="{A9A3A7EF-3BEA-EB93-12B8-0525F19B6526}"/>
              </a:ext>
            </a:extLst>
          </p:cNvPr>
          <p:cNvSpPr txBox="1"/>
          <p:nvPr/>
        </p:nvSpPr>
        <p:spPr>
          <a:xfrm>
            <a:off x="9837012" y="5143306"/>
            <a:ext cx="134573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de-DE" sz="1600" b="1" i="0" u="none" strike="noStrike" kern="1200" cap="none" spc="0" normalizeH="0" baseline="0" noProof="0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/>
                <a:ea typeface="Cascadia Code" panose="020B0609020000020004" pitchFamily="49" charset="0"/>
                <a:cs typeface="Arial"/>
              </a:rPr>
              <a:t>Node 2</a:t>
            </a:r>
            <a:r>
              <a:rPr lang="de-DE" sz="1600" b="1">
                <a:ln w="0"/>
                <a:solidFill>
                  <a:srgbClr val="BD393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Cascadia Code" panose="020B0609020000020004" pitchFamily="49" charset="0"/>
                <a:cs typeface="Arial"/>
              </a:rPr>
              <a:t> </a:t>
            </a:r>
            <a:endParaRPr kumimoji="0" lang="de-DE" sz="1600" b="1" i="0" u="none" strike="noStrike" kern="1200" cap="none" spc="0" normalizeH="0" baseline="0" noProof="0">
              <a:ln w="0"/>
              <a:solidFill>
                <a:srgbClr val="BD3939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/>
              <a:ea typeface="Cascadia Code" panose="020B0609020000020004" pitchFamily="49" charset="0"/>
              <a:cs typeface="Arial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400" b="1">
                <a:ln w="0"/>
                <a:solidFill>
                  <a:srgbClr val="43434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cs typeface="Arial"/>
              </a:rPr>
              <a:t>Replica</a:t>
            </a:r>
            <a:endParaRPr lang="de-DE"/>
          </a:p>
        </p:txBody>
      </p:sp>
      <p:sp>
        <p:nvSpPr>
          <p:cNvPr id="299" name="Textfeld 298">
            <a:extLst>
              <a:ext uri="{FF2B5EF4-FFF2-40B4-BE49-F238E27FC236}">
                <a16:creationId xmlns:a16="http://schemas.microsoft.com/office/drawing/2014/main" id="{48430048-2DA9-D096-A9FF-D400C60E6AE3}"/>
              </a:ext>
            </a:extLst>
          </p:cNvPr>
          <p:cNvSpPr txBox="1"/>
          <p:nvPr/>
        </p:nvSpPr>
        <p:spPr>
          <a:xfrm>
            <a:off x="8233334" y="2924771"/>
            <a:ext cx="5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Textfeld 302">
            <a:extLst>
              <a:ext uri="{FF2B5EF4-FFF2-40B4-BE49-F238E27FC236}">
                <a16:creationId xmlns:a16="http://schemas.microsoft.com/office/drawing/2014/main" id="{AAE42E07-213A-7530-DAD0-8030A89E62F1}"/>
              </a:ext>
            </a:extLst>
          </p:cNvPr>
          <p:cNvSpPr txBox="1"/>
          <p:nvPr/>
        </p:nvSpPr>
        <p:spPr>
          <a:xfrm>
            <a:off x="9122334" y="2915183"/>
            <a:ext cx="5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7" name="Verbinder: gewinkelt 306">
            <a:extLst>
              <a:ext uri="{FF2B5EF4-FFF2-40B4-BE49-F238E27FC236}">
                <a16:creationId xmlns:a16="http://schemas.microsoft.com/office/drawing/2014/main" id="{25E79C63-31DF-78C2-E7EB-17138DD43A3D}"/>
              </a:ext>
            </a:extLst>
          </p:cNvPr>
          <p:cNvCxnSpPr>
            <a:cxnSpLocks/>
            <a:stCxn id="253" idx="3"/>
            <a:endCxn id="292" idx="0"/>
          </p:cNvCxnSpPr>
          <p:nvPr/>
        </p:nvCxnSpPr>
        <p:spPr>
          <a:xfrm>
            <a:off x="9670829" y="4438234"/>
            <a:ext cx="680359" cy="620197"/>
          </a:xfrm>
          <a:prstGeom prst="bentConnector2">
            <a:avLst/>
          </a:prstGeom>
          <a:ln w="28575">
            <a:solidFill>
              <a:srgbClr val="C45A5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60477528-BE28-A93E-42DD-A2DAC4C10BF4}"/>
              </a:ext>
            </a:extLst>
          </p:cNvPr>
          <p:cNvCxnSpPr>
            <a:cxnSpLocks/>
          </p:cNvCxnSpPr>
          <p:nvPr/>
        </p:nvCxnSpPr>
        <p:spPr>
          <a:xfrm>
            <a:off x="6562303" y="1198880"/>
            <a:ext cx="0" cy="514096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23" name="Grafik 322">
            <a:extLst>
              <a:ext uri="{FF2B5EF4-FFF2-40B4-BE49-F238E27FC236}">
                <a16:creationId xmlns:a16="http://schemas.microsoft.com/office/drawing/2014/main" id="{3A544B99-8EF2-170B-06A1-610BDFA55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268" y="3587843"/>
            <a:ext cx="457200" cy="457200"/>
          </a:xfrm>
          <a:prstGeom prst="rect">
            <a:avLst/>
          </a:prstGeom>
        </p:spPr>
      </p:pic>
      <p:pic>
        <p:nvPicPr>
          <p:cNvPr id="328" name="Grafik 327">
            <a:extLst>
              <a:ext uri="{FF2B5EF4-FFF2-40B4-BE49-F238E27FC236}">
                <a16:creationId xmlns:a16="http://schemas.microsoft.com/office/drawing/2014/main" id="{8230E238-DCDE-7A07-8D8A-994E5D09B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773" y="2515271"/>
            <a:ext cx="548640" cy="548640"/>
          </a:xfrm>
          <a:prstGeom prst="rect">
            <a:avLst/>
          </a:prstGeom>
        </p:spPr>
      </p:pic>
      <p:pic>
        <p:nvPicPr>
          <p:cNvPr id="330" name="Grafik 329">
            <a:extLst>
              <a:ext uri="{FF2B5EF4-FFF2-40B4-BE49-F238E27FC236}">
                <a16:creationId xmlns:a16="http://schemas.microsoft.com/office/drawing/2014/main" id="{6377BE5E-D782-471F-942F-D0B328087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8906" y="4546841"/>
            <a:ext cx="640080" cy="640080"/>
          </a:xfrm>
          <a:prstGeom prst="rect">
            <a:avLst/>
          </a:prstGeom>
        </p:spPr>
      </p:pic>
      <p:sp>
        <p:nvSpPr>
          <p:cNvPr id="334" name="Rechteck 333">
            <a:extLst>
              <a:ext uri="{FF2B5EF4-FFF2-40B4-BE49-F238E27FC236}">
                <a16:creationId xmlns:a16="http://schemas.microsoft.com/office/drawing/2014/main" id="{57D827BD-AAEE-4846-8B0C-DD7E13121C4D}"/>
              </a:ext>
            </a:extLst>
          </p:cNvPr>
          <p:cNvSpPr/>
          <p:nvPr/>
        </p:nvSpPr>
        <p:spPr>
          <a:xfrm>
            <a:off x="1166606" y="3813810"/>
            <a:ext cx="95643" cy="142456"/>
          </a:xfrm>
          <a:prstGeom prst="rect">
            <a:avLst/>
          </a:prstGeom>
          <a:solidFill>
            <a:srgbClr val="EAF4FB"/>
          </a:solidFill>
          <a:ln>
            <a:solidFill>
              <a:srgbClr val="EAF4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Rechteck 334">
            <a:extLst>
              <a:ext uri="{FF2B5EF4-FFF2-40B4-BE49-F238E27FC236}">
                <a16:creationId xmlns:a16="http://schemas.microsoft.com/office/drawing/2014/main" id="{331556DF-421E-9118-C790-9BAFFEEFE6E8}"/>
              </a:ext>
            </a:extLst>
          </p:cNvPr>
          <p:cNvSpPr/>
          <p:nvPr/>
        </p:nvSpPr>
        <p:spPr>
          <a:xfrm>
            <a:off x="1195838" y="3794868"/>
            <a:ext cx="48978" cy="142456"/>
          </a:xfrm>
          <a:prstGeom prst="rect">
            <a:avLst/>
          </a:prstGeom>
          <a:solidFill>
            <a:srgbClr val="EAF4FB"/>
          </a:solidFill>
          <a:ln>
            <a:solidFill>
              <a:srgbClr val="EAF4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285">
            <a:extLst>
              <a:ext uri="{FF2B5EF4-FFF2-40B4-BE49-F238E27FC236}">
                <a16:creationId xmlns:a16="http://schemas.microsoft.com/office/drawing/2014/main" id="{058D8155-CD81-206A-00E2-44F94BCF7169}"/>
              </a:ext>
            </a:extLst>
          </p:cNvPr>
          <p:cNvSpPr txBox="1"/>
          <p:nvPr/>
        </p:nvSpPr>
        <p:spPr>
          <a:xfrm>
            <a:off x="7529775" y="3701059"/>
            <a:ext cx="2048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22691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 </a:t>
            </a:r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2277457618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81EB9C-33C1-8A45-BF9C-492743646422}" vid="{36D03FD8-142A-1548-9478-B3FAF429BD2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190366-f716-432a-8274-d8771eaaac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27A1034E3CAF43B7E4F2C3106DD972" ma:contentTypeVersion="5" ma:contentTypeDescription="Ein neues Dokument erstellen." ma:contentTypeScope="" ma:versionID="24ec100a625be9d3f2fc72d88c88396e">
  <xsd:schema xmlns:xsd="http://www.w3.org/2001/XMLSchema" xmlns:xs="http://www.w3.org/2001/XMLSchema" xmlns:p="http://schemas.microsoft.com/office/2006/metadata/properties" xmlns:ns3="05190366-f716-432a-8274-d8771eaaac71" targetNamespace="http://schemas.microsoft.com/office/2006/metadata/properties" ma:root="true" ma:fieldsID="d23f396629ca5c2bb23b25a6cf53535c" ns3:_="">
    <xsd:import namespace="05190366-f716-432a-8274-d8771eaaac7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190366-f716-432a-8274-d8771eaaac7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AE3AA1-3EC5-4C66-82EE-5945C05778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3C8426-C0BB-40B7-858F-BD2D314412A0}">
  <ds:schemaRefs>
    <ds:schemaRef ds:uri="05190366-f716-432a-8274-d8771eaaac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9BD9D4-447E-4481-BE68-D2C22A958239}">
  <ds:schemaRefs>
    <ds:schemaRef ds:uri="05190366-f716-432a-8274-d8771eaaac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Titelfolien zur Auswahl</Template>
  <Application>Microsoft Office PowerPoint</Application>
  <PresentationFormat>Widescreen</PresentationFormat>
  <Slides>11</Slides>
  <Notes>8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Titelfolien zur Auswahl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5071499794369511</dc:creator>
  <cp:revision>8</cp:revision>
  <cp:lastPrinted>2021-03-24T16:10:50Z</cp:lastPrinted>
  <dcterms:created xsi:type="dcterms:W3CDTF">2025-10-21T13:35:39Z</dcterms:created>
  <dcterms:modified xsi:type="dcterms:W3CDTF">2026-07-12T20:41:45Z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0x0101002027A1034E3CAF43B7E4F2C3106DD972</vt:lpwstr>
  </property>
</Properties>
</file>